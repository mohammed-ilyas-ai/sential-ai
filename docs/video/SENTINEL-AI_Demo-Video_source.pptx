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02195-FEF1-A6C2-D3C2-B9E14F072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9E70B2-0CB9-007B-B031-DADD69E73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73839-41D5-3353-1841-29CD59A7E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F64A-E855-4E09-B6D1-F5BA2CE0F30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31F04-B510-DDC5-10C1-64D168C7F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8689E-C006-F5BE-1D1D-5DE5D5341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8FD75-93E7-4E77-A669-E4E08F0D5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920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C02C8-9243-C38F-1EBF-15E0F3588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C10EB-9FC3-A98B-6D8E-5A4492CA6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A59CE-3ABD-5620-D5CF-AAA23782C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F64A-E855-4E09-B6D1-F5BA2CE0F30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0BD99-1C98-69B0-684D-B39832BC9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C6CAA-825E-4B03-132B-02FD5E6A5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8FD75-93E7-4E77-A669-E4E08F0D5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28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43FEE-C741-49CD-0822-5D50D5BCA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EEFCB-2808-3545-D28A-AAB894F20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737CD-2D3B-C62D-B751-A7A4B4CC5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F64A-E855-4E09-B6D1-F5BA2CE0F30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10F7B-18F9-5F01-C094-E978B00B1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EF83E-E62A-9DF4-CE3D-205C4B733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8FD75-93E7-4E77-A669-E4E08F0D5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80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2247F-EC41-2472-2763-4BE6BAE7F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733B7-1E99-375E-210D-CF2E943F1C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39446B-EE2B-E9DF-5404-B6B5AF37D8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D282E7-F15F-04C4-62F3-8BFBD1FA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F64A-E855-4E09-B6D1-F5BA2CE0F30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55600-AF81-BC07-9A73-382E196C6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7286F-4EA7-1B1C-0085-E6159B0C7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8FD75-93E7-4E77-A669-E4E08F0D5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26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CF991-1E7D-48D2-A795-E05723D59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A20EE-1C92-9642-DC8D-08AEA9C93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B5EDA6-1FCA-8C11-A9A9-1707BBE8FC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CCEDE4-1ED0-FC0C-2426-9A7D20C263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ADA3CF-4619-B6B7-1BCB-F71BD04F50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6B85D5-04DC-E683-EA35-A54A23385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F64A-E855-4E09-B6D1-F5BA2CE0F30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D7DB54-28CE-3AE6-DBC1-8697259BF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5E3AFB-6A20-A263-B8EA-5831D6ED7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8FD75-93E7-4E77-A669-E4E08F0D5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957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FC475-0E44-C2A1-6588-58CB1D12A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DB02E9-EE6E-8BE6-E091-A2ADC6B6C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F64A-E855-4E09-B6D1-F5BA2CE0F30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920743-AAAC-C359-2F34-B30F338A0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DF2017-5CAF-6598-52DC-A0B3B0044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8FD75-93E7-4E77-A669-E4E08F0D5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160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EA59A6-2B36-218B-B33D-D0F27DF18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F64A-E855-4E09-B6D1-F5BA2CE0F30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69BD0C-0E16-4C7F-D3A4-9DF35FABE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22F24-24E5-E69C-2E93-281633F70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8FD75-93E7-4E77-A669-E4E08F0D5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17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2A96-1698-F06B-F20F-3E7ADD514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E996A-B330-12CB-47AF-2E350A895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F93C56-8145-21E8-7C7A-677DD4DF1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5C71AF-4994-7DBF-DF69-69D0F10B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F64A-E855-4E09-B6D1-F5BA2CE0F30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DB412-2CBC-B61C-4584-052746B31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E2673-18F9-D21D-7D06-51029185D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8FD75-93E7-4E77-A669-E4E08F0D5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06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8DB07-7502-2F6C-E124-4B7571243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620C91-BE04-226B-977E-5F50F5D811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CF4C69-A89A-999C-F123-2D20F263D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2CA56-3E48-C993-D326-6388D6130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F64A-E855-4E09-B6D1-F5BA2CE0F30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28218-BE65-1A92-D9EE-FF53498FF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7DD161-B733-4CED-224D-7C68149E6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8FD75-93E7-4E77-A669-E4E08F0D5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532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5BC42-2557-7485-EB58-2C1898463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A7E1E1-C306-BE0C-0956-707B044EB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95202-25B0-99EC-9090-0A20ACB60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F64A-E855-4E09-B6D1-F5BA2CE0F30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46AEC-19C2-3785-C3F5-98EA25690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B50FA-6A43-ED48-1032-DD6BFF243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8FD75-93E7-4E77-A669-E4E08F0D5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9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BB7FE0-CE00-DB0F-43CE-697E63984F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7AF26-6826-9126-E141-3F0E085CD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C0D1B-F253-817F-6F92-572985E2E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F64A-E855-4E09-B6D1-F5BA2CE0F30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0E72E-0764-9B35-E303-23FA76337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4EB4D-F83F-C4C7-1A32-6ABE8A6B6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8FD75-93E7-4E77-A669-E4E08F0D5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471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14008B-0F9C-C243-7E64-643AFCFBA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F4197-3940-5549-487D-DD11E28B7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A618B-FF64-4E23-288A-DD87BB5284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6F64A-E855-4E09-B6D1-F5BA2CE0F30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DDBF3-D8D0-B92F-2704-785EF3901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E0C35-369A-0131-A90E-655DB6725C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08FD75-93E7-4E77-A669-E4E08F0D5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1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wav"/><Relationship Id="rId1" Type="http://schemas.microsoft.com/office/2007/relationships/media" Target="../media/media8.wav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wav"/><Relationship Id="rId1" Type="http://schemas.microsoft.com/office/2007/relationships/media" Target="../media/media9.wav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wav"/><Relationship Id="rId1" Type="http://schemas.microsoft.com/office/2007/relationships/media" Target="../media/media10.wav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1.wav"/><Relationship Id="rId1" Type="http://schemas.microsoft.com/office/2007/relationships/media" Target="../media/media11.wav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rame">
            <a:extLst>
              <a:ext uri="{FF2B5EF4-FFF2-40B4-BE49-F238E27FC236}">
                <a16:creationId xmlns:a16="http://schemas.microsoft.com/office/drawing/2014/main" id="{8831CB1F-822B-B4C2-8B97-E64B1A36645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narration">
            <a:hlinkClick r:id="" action="ppaction://media"/>
            <a:extLst>
              <a:ext uri="{FF2B5EF4-FFF2-40B4-BE49-F238E27FC236}">
                <a16:creationId xmlns:a16="http://schemas.microsoft.com/office/drawing/2014/main" id="{A5A9A5B5-DCEC-D0FE-1BE7-3BEE0B6C93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5" y="31845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257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 advClick="0" advTm="19231">
        <p:fade/>
      </p:transition>
    </mc:Choice>
    <mc:Fallback>
      <p:transition spd="med" advClick="0" advTm="1923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23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rame">
            <a:extLst>
              <a:ext uri="{FF2B5EF4-FFF2-40B4-BE49-F238E27FC236}">
                <a16:creationId xmlns:a16="http://schemas.microsoft.com/office/drawing/2014/main" id="{5653F6F9-3B3A-9A47-2BA7-3F148AB61AE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aption_bar">
            <a:extLst>
              <a:ext uri="{FF2B5EF4-FFF2-40B4-BE49-F238E27FC236}">
                <a16:creationId xmlns:a16="http://schemas.microsoft.com/office/drawing/2014/main" id="{65D93790-1F20-6E78-ED0D-04B9E805CE24}"/>
              </a:ext>
            </a:extLst>
          </p:cNvPr>
          <p:cNvSpPr/>
          <p:nvPr/>
        </p:nvSpPr>
        <p:spPr>
          <a:xfrm>
            <a:off x="304800" y="5740400"/>
            <a:ext cx="8128000" cy="838200"/>
          </a:xfrm>
          <a:prstGeom prst="roundRect">
            <a:avLst>
              <a:gd name="adj" fmla="val 18000"/>
            </a:avLst>
          </a:prstGeom>
          <a:solidFill>
            <a:srgbClr val="070F1A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ption_accent">
            <a:extLst>
              <a:ext uri="{FF2B5EF4-FFF2-40B4-BE49-F238E27FC236}">
                <a16:creationId xmlns:a16="http://schemas.microsoft.com/office/drawing/2014/main" id="{3F18668D-EF51-FAB2-BCCF-87C52405860E}"/>
              </a:ext>
            </a:extLst>
          </p:cNvPr>
          <p:cNvSpPr/>
          <p:nvPr/>
        </p:nvSpPr>
        <p:spPr>
          <a:xfrm>
            <a:off x="304800" y="5740400"/>
            <a:ext cx="63500" cy="838200"/>
          </a:xfrm>
          <a:prstGeom prst="rect">
            <a:avLst/>
          </a:prstGeom>
          <a:solidFill>
            <a:srgbClr val="38B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ption_title">
            <a:extLst>
              <a:ext uri="{FF2B5EF4-FFF2-40B4-BE49-F238E27FC236}">
                <a16:creationId xmlns:a16="http://schemas.microsoft.com/office/drawing/2014/main" id="{E41DCFFE-0406-78A8-81EE-8C2FA90DD3CC}"/>
              </a:ext>
            </a:extLst>
          </p:cNvPr>
          <p:cNvSpPr txBox="1"/>
          <p:nvPr/>
        </p:nvSpPr>
        <p:spPr>
          <a:xfrm>
            <a:off x="508000" y="5791200"/>
            <a:ext cx="7747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>
                <a:solidFill>
                  <a:srgbClr val="38B6FF"/>
                </a:solidFill>
                <a:latin typeface="Segoe UI Semibold" panose="020B0702040204020203" pitchFamily="34" charset="0"/>
              </a:rPr>
              <a:t>1</a:t>
            </a:r>
            <a:r>
              <a:rPr lang="en-US" sz="1900">
                <a:solidFill>
                  <a:srgbClr val="FFFFFF"/>
                </a:solidFill>
                <a:latin typeface="Segoe UI Semibold" panose="020B0702040204020203" pitchFamily="34" charset="0"/>
              </a:rPr>
              <a:t>  Normal operations</a:t>
            </a:r>
          </a:p>
        </p:txBody>
      </p:sp>
      <p:sp>
        <p:nvSpPr>
          <p:cNvPr id="7" name="caption_line">
            <a:extLst>
              <a:ext uri="{FF2B5EF4-FFF2-40B4-BE49-F238E27FC236}">
                <a16:creationId xmlns:a16="http://schemas.microsoft.com/office/drawing/2014/main" id="{071DD08B-6A7A-E7D2-D3AE-38B44611C895}"/>
              </a:ext>
            </a:extLst>
          </p:cNvPr>
          <p:cNvSpPr txBox="1"/>
          <p:nvPr/>
        </p:nvSpPr>
        <p:spPr>
          <a:xfrm>
            <a:off x="508000" y="6121400"/>
            <a:ext cx="7747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50">
                <a:solidFill>
                  <a:srgbClr val="C8D6E5"/>
                </a:solidFill>
                <a:latin typeface="Segoe UI" panose="020B0502040204020203" pitchFamily="34" charset="0"/>
              </a:rPr>
              <a:t>Live stream across three synthetic institutions</a:t>
            </a:r>
          </a:p>
        </p:txBody>
      </p:sp>
      <p:sp>
        <p:nvSpPr>
          <p:cNvPr id="8" name="synthetic_tag">
            <a:extLst>
              <a:ext uri="{FF2B5EF4-FFF2-40B4-BE49-F238E27FC236}">
                <a16:creationId xmlns:a16="http://schemas.microsoft.com/office/drawing/2014/main" id="{B835D638-7887-05BB-3D8E-1A7879D87676}"/>
              </a:ext>
            </a:extLst>
          </p:cNvPr>
          <p:cNvSpPr/>
          <p:nvPr/>
        </p:nvSpPr>
        <p:spPr>
          <a:xfrm>
            <a:off x="10312400" y="203200"/>
            <a:ext cx="1676400" cy="304800"/>
          </a:xfrm>
          <a:prstGeom prst="roundRect">
            <a:avLst/>
          </a:prstGeom>
          <a:solidFill>
            <a:srgbClr val="070F1A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rgbClr val="BFE9FF"/>
                </a:solidFill>
                <a:latin typeface="Segoe UI Semibold" panose="020B0702040204020203" pitchFamily="34" charset="0"/>
              </a:rPr>
              <a:t>SYNTHETIC DATA · DEMO</a:t>
            </a:r>
          </a:p>
        </p:txBody>
      </p:sp>
      <p:pic>
        <p:nvPicPr>
          <p:cNvPr id="9" name="narration">
            <a:hlinkClick r:id="" action="ppaction://media"/>
            <a:extLst>
              <a:ext uri="{FF2B5EF4-FFF2-40B4-BE49-F238E27FC236}">
                <a16:creationId xmlns:a16="http://schemas.microsoft.com/office/drawing/2014/main" id="{FC526FA0-75D1-C482-AD10-94E2A658EB9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5" y="31845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955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 advClick="0" advTm="19001">
        <p:fade/>
      </p:transition>
    </mc:Choice>
    <mc:Fallback>
      <p:transition spd="med" advClick="0" advTm="1900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rame">
            <a:extLst>
              <a:ext uri="{FF2B5EF4-FFF2-40B4-BE49-F238E27FC236}">
                <a16:creationId xmlns:a16="http://schemas.microsoft.com/office/drawing/2014/main" id="{6585DD9B-4B63-DB87-DAC3-7F1356D5A5C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aption_bar">
            <a:extLst>
              <a:ext uri="{FF2B5EF4-FFF2-40B4-BE49-F238E27FC236}">
                <a16:creationId xmlns:a16="http://schemas.microsoft.com/office/drawing/2014/main" id="{3611CE9D-AB68-F61A-5CAE-10CC12829136}"/>
              </a:ext>
            </a:extLst>
          </p:cNvPr>
          <p:cNvSpPr/>
          <p:nvPr/>
        </p:nvSpPr>
        <p:spPr>
          <a:xfrm>
            <a:off x="304800" y="5740400"/>
            <a:ext cx="8128000" cy="838200"/>
          </a:xfrm>
          <a:prstGeom prst="roundRect">
            <a:avLst>
              <a:gd name="adj" fmla="val 18000"/>
            </a:avLst>
          </a:prstGeom>
          <a:solidFill>
            <a:srgbClr val="070F1A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ption_accent">
            <a:extLst>
              <a:ext uri="{FF2B5EF4-FFF2-40B4-BE49-F238E27FC236}">
                <a16:creationId xmlns:a16="http://schemas.microsoft.com/office/drawing/2014/main" id="{8041A5DE-2397-17A4-BA80-CD2F76EEA330}"/>
              </a:ext>
            </a:extLst>
          </p:cNvPr>
          <p:cNvSpPr/>
          <p:nvPr/>
        </p:nvSpPr>
        <p:spPr>
          <a:xfrm>
            <a:off x="304800" y="5740400"/>
            <a:ext cx="63500" cy="838200"/>
          </a:xfrm>
          <a:prstGeom prst="rect">
            <a:avLst/>
          </a:prstGeom>
          <a:solidFill>
            <a:srgbClr val="38B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ption_title">
            <a:extLst>
              <a:ext uri="{FF2B5EF4-FFF2-40B4-BE49-F238E27FC236}">
                <a16:creationId xmlns:a16="http://schemas.microsoft.com/office/drawing/2014/main" id="{8FA89781-EC09-BBF2-46B4-7975A7CEE068}"/>
              </a:ext>
            </a:extLst>
          </p:cNvPr>
          <p:cNvSpPr txBox="1"/>
          <p:nvPr/>
        </p:nvSpPr>
        <p:spPr>
          <a:xfrm>
            <a:off x="508000" y="5791200"/>
            <a:ext cx="7747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>
                <a:solidFill>
                  <a:srgbClr val="38B6FF"/>
                </a:solidFill>
                <a:latin typeface="Segoe UI Semibold" panose="020B0702040204020203" pitchFamily="34" charset="0"/>
              </a:rPr>
              <a:t>2</a:t>
            </a:r>
            <a:r>
              <a:rPr lang="en-US" sz="1900">
                <a:solidFill>
                  <a:srgbClr val="FFFFFF"/>
                </a:solidFill>
                <a:latin typeface="Segoe UI Semibold" panose="020B0702040204020203" pitchFamily="34" charset="0"/>
              </a:rPr>
              <a:t>  Pre-transaction decision API</a:t>
            </a:r>
          </a:p>
        </p:txBody>
      </p:sp>
      <p:sp>
        <p:nvSpPr>
          <p:cNvPr id="7" name="caption_line">
            <a:extLst>
              <a:ext uri="{FF2B5EF4-FFF2-40B4-BE49-F238E27FC236}">
                <a16:creationId xmlns:a16="http://schemas.microsoft.com/office/drawing/2014/main" id="{9EA24291-515B-6673-E5EC-310BF918BEE0}"/>
              </a:ext>
            </a:extLst>
          </p:cNvPr>
          <p:cNvSpPr txBox="1"/>
          <p:nvPr/>
        </p:nvSpPr>
        <p:spPr>
          <a:xfrm>
            <a:off x="508000" y="6121400"/>
            <a:ext cx="7747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50">
                <a:solidFill>
                  <a:srgbClr val="C8D6E5"/>
                </a:solidFill>
                <a:latin typeface="Segoe UI" panose="020B0502040204020203" pitchFamily="34" charset="0"/>
              </a:rPr>
              <a:t>ALLOW or HOLD before the transfer commits</a:t>
            </a:r>
          </a:p>
        </p:txBody>
      </p:sp>
      <p:sp>
        <p:nvSpPr>
          <p:cNvPr id="8" name="synthetic_tag">
            <a:extLst>
              <a:ext uri="{FF2B5EF4-FFF2-40B4-BE49-F238E27FC236}">
                <a16:creationId xmlns:a16="http://schemas.microsoft.com/office/drawing/2014/main" id="{C03E04D4-E163-EE5C-085D-E9D11CCF0AA2}"/>
              </a:ext>
            </a:extLst>
          </p:cNvPr>
          <p:cNvSpPr/>
          <p:nvPr/>
        </p:nvSpPr>
        <p:spPr>
          <a:xfrm>
            <a:off x="10312400" y="203200"/>
            <a:ext cx="1676400" cy="304800"/>
          </a:xfrm>
          <a:prstGeom prst="roundRect">
            <a:avLst/>
          </a:prstGeom>
          <a:solidFill>
            <a:srgbClr val="070F1A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rgbClr val="BFE9FF"/>
                </a:solidFill>
                <a:latin typeface="Segoe UI Semibold" panose="020B0702040204020203" pitchFamily="34" charset="0"/>
              </a:rPr>
              <a:t>SYNTHETIC DATA · DEMO</a:t>
            </a:r>
          </a:p>
        </p:txBody>
      </p:sp>
      <p:pic>
        <p:nvPicPr>
          <p:cNvPr id="9" name="narration">
            <a:hlinkClick r:id="" action="ppaction://media"/>
            <a:extLst>
              <a:ext uri="{FF2B5EF4-FFF2-40B4-BE49-F238E27FC236}">
                <a16:creationId xmlns:a16="http://schemas.microsoft.com/office/drawing/2014/main" id="{AF4F7993-9EDC-6838-E7C8-A6560885C09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5" y="31845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6541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 advClick="0" advTm="16632">
        <p:fade/>
      </p:transition>
    </mc:Choice>
    <mc:Fallback>
      <p:transition spd="med" advClick="0" advTm="1663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63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rame">
            <a:extLst>
              <a:ext uri="{FF2B5EF4-FFF2-40B4-BE49-F238E27FC236}">
                <a16:creationId xmlns:a16="http://schemas.microsoft.com/office/drawing/2014/main" id="{9E6FB538-1DE9-B658-8B4C-0095B608EAC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aption_bar">
            <a:extLst>
              <a:ext uri="{FF2B5EF4-FFF2-40B4-BE49-F238E27FC236}">
                <a16:creationId xmlns:a16="http://schemas.microsoft.com/office/drawing/2014/main" id="{EE77039B-1E57-A270-58A5-084AEB32E603}"/>
              </a:ext>
            </a:extLst>
          </p:cNvPr>
          <p:cNvSpPr/>
          <p:nvPr/>
        </p:nvSpPr>
        <p:spPr>
          <a:xfrm>
            <a:off x="304800" y="5740400"/>
            <a:ext cx="8128000" cy="838200"/>
          </a:xfrm>
          <a:prstGeom prst="roundRect">
            <a:avLst>
              <a:gd name="adj" fmla="val 18000"/>
            </a:avLst>
          </a:prstGeom>
          <a:solidFill>
            <a:srgbClr val="070F1A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ption_accent">
            <a:extLst>
              <a:ext uri="{FF2B5EF4-FFF2-40B4-BE49-F238E27FC236}">
                <a16:creationId xmlns:a16="http://schemas.microsoft.com/office/drawing/2014/main" id="{76B24EF8-8881-A4B3-9237-E20E6A349A2A}"/>
              </a:ext>
            </a:extLst>
          </p:cNvPr>
          <p:cNvSpPr/>
          <p:nvPr/>
        </p:nvSpPr>
        <p:spPr>
          <a:xfrm>
            <a:off x="304800" y="5740400"/>
            <a:ext cx="63500" cy="838200"/>
          </a:xfrm>
          <a:prstGeom prst="rect">
            <a:avLst/>
          </a:prstGeom>
          <a:solidFill>
            <a:srgbClr val="38B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ption_title">
            <a:extLst>
              <a:ext uri="{FF2B5EF4-FFF2-40B4-BE49-F238E27FC236}">
                <a16:creationId xmlns:a16="http://schemas.microsoft.com/office/drawing/2014/main" id="{93F845A5-05FD-5869-D27C-3D50DA2FB4F6}"/>
              </a:ext>
            </a:extLst>
          </p:cNvPr>
          <p:cNvSpPr txBox="1"/>
          <p:nvPr/>
        </p:nvSpPr>
        <p:spPr>
          <a:xfrm>
            <a:off x="508000" y="5791200"/>
            <a:ext cx="7747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>
                <a:solidFill>
                  <a:srgbClr val="38B6FF"/>
                </a:solidFill>
                <a:latin typeface="Segoe UI Semibold" panose="020B0702040204020203" pitchFamily="34" charset="0"/>
              </a:rPr>
              <a:t>3</a:t>
            </a:r>
            <a:r>
              <a:rPr lang="en-US" sz="1900">
                <a:solidFill>
                  <a:srgbClr val="FFFFFF"/>
                </a:solidFill>
                <a:latin typeface="Segoe UI Semibold" panose="020B0702040204020203" pitchFamily="34" charset="0"/>
              </a:rPr>
              <a:t>  Rapid-drain gate: HOLD</a:t>
            </a:r>
          </a:p>
        </p:txBody>
      </p:sp>
      <p:sp>
        <p:nvSpPr>
          <p:cNvPr id="7" name="caption_line">
            <a:extLst>
              <a:ext uri="{FF2B5EF4-FFF2-40B4-BE49-F238E27FC236}">
                <a16:creationId xmlns:a16="http://schemas.microsoft.com/office/drawing/2014/main" id="{34D18F8B-B1E6-A9C8-ABAD-5786FDACD506}"/>
              </a:ext>
            </a:extLst>
          </p:cNvPr>
          <p:cNvSpPr txBox="1"/>
          <p:nvPr/>
        </p:nvSpPr>
        <p:spPr>
          <a:xfrm>
            <a:off x="508000" y="6121400"/>
            <a:ext cx="7747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50">
                <a:solidFill>
                  <a:srgbClr val="C8D6E5"/>
                </a:solidFill>
                <a:latin typeface="Segoe UI" panose="020B0502040204020203" pitchFamily="34" charset="0"/>
              </a:rPr>
              <a:t>65.4% of S$52,000 moved in 24 hours. Gate: 50%</a:t>
            </a:r>
          </a:p>
        </p:txBody>
      </p:sp>
      <p:sp>
        <p:nvSpPr>
          <p:cNvPr id="8" name="synthetic_tag">
            <a:extLst>
              <a:ext uri="{FF2B5EF4-FFF2-40B4-BE49-F238E27FC236}">
                <a16:creationId xmlns:a16="http://schemas.microsoft.com/office/drawing/2014/main" id="{45CBD610-B122-19F0-EB75-8477B496FC07}"/>
              </a:ext>
            </a:extLst>
          </p:cNvPr>
          <p:cNvSpPr/>
          <p:nvPr/>
        </p:nvSpPr>
        <p:spPr>
          <a:xfrm>
            <a:off x="10312400" y="203200"/>
            <a:ext cx="1676400" cy="304800"/>
          </a:xfrm>
          <a:prstGeom prst="roundRect">
            <a:avLst/>
          </a:prstGeom>
          <a:solidFill>
            <a:srgbClr val="070F1A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rgbClr val="BFE9FF"/>
                </a:solidFill>
                <a:latin typeface="Segoe UI Semibold" panose="020B0702040204020203" pitchFamily="34" charset="0"/>
              </a:rPr>
              <a:t>SYNTHETIC DATA · DEMO</a:t>
            </a:r>
          </a:p>
        </p:txBody>
      </p:sp>
      <p:pic>
        <p:nvPicPr>
          <p:cNvPr id="9" name="narration">
            <a:hlinkClick r:id="" action="ppaction://media"/>
            <a:extLst>
              <a:ext uri="{FF2B5EF4-FFF2-40B4-BE49-F238E27FC236}">
                <a16:creationId xmlns:a16="http://schemas.microsoft.com/office/drawing/2014/main" id="{DDC43F28-7B56-8798-A41A-4998155A21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5" y="31845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234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 advClick="0" advTm="11570">
        <p:fade/>
      </p:transition>
    </mc:Choice>
    <mc:Fallback>
      <p:transition spd="med" advClick="0" advTm="1157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54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numSld="2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rame">
            <a:extLst>
              <a:ext uri="{FF2B5EF4-FFF2-40B4-BE49-F238E27FC236}">
                <a16:creationId xmlns:a16="http://schemas.microsoft.com/office/drawing/2014/main" id="{9E6FB538-1DE9-B658-8B4C-0095B608EAC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47200" y="-1485900"/>
            <a:ext cx="21535949" cy="12113971"/>
          </a:xfrm>
          <a:prstGeom prst="rect">
            <a:avLst/>
          </a:prstGeom>
        </p:spPr>
      </p:pic>
      <p:sp>
        <p:nvSpPr>
          <p:cNvPr id="4" name="caption_bar">
            <a:extLst>
              <a:ext uri="{FF2B5EF4-FFF2-40B4-BE49-F238E27FC236}">
                <a16:creationId xmlns:a16="http://schemas.microsoft.com/office/drawing/2014/main" id="{EE77039B-1E57-A270-58A5-084AEB32E603}"/>
              </a:ext>
            </a:extLst>
          </p:cNvPr>
          <p:cNvSpPr/>
          <p:nvPr/>
        </p:nvSpPr>
        <p:spPr>
          <a:xfrm>
            <a:off x="304800" y="5740400"/>
            <a:ext cx="8128000" cy="838200"/>
          </a:xfrm>
          <a:prstGeom prst="roundRect">
            <a:avLst>
              <a:gd name="adj" fmla="val 18000"/>
            </a:avLst>
          </a:prstGeom>
          <a:solidFill>
            <a:srgbClr val="070F1A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ption_accent">
            <a:extLst>
              <a:ext uri="{FF2B5EF4-FFF2-40B4-BE49-F238E27FC236}">
                <a16:creationId xmlns:a16="http://schemas.microsoft.com/office/drawing/2014/main" id="{76B24EF8-8881-A4B3-9237-E20E6A349A2A}"/>
              </a:ext>
            </a:extLst>
          </p:cNvPr>
          <p:cNvSpPr/>
          <p:nvPr/>
        </p:nvSpPr>
        <p:spPr>
          <a:xfrm>
            <a:off x="304800" y="5740400"/>
            <a:ext cx="63500" cy="838200"/>
          </a:xfrm>
          <a:prstGeom prst="rect">
            <a:avLst/>
          </a:prstGeom>
          <a:solidFill>
            <a:srgbClr val="38B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ption_title">
            <a:extLst>
              <a:ext uri="{FF2B5EF4-FFF2-40B4-BE49-F238E27FC236}">
                <a16:creationId xmlns:a16="http://schemas.microsoft.com/office/drawing/2014/main" id="{93F845A5-05FD-5869-D27C-3D50DA2FB4F6}"/>
              </a:ext>
            </a:extLst>
          </p:cNvPr>
          <p:cNvSpPr txBox="1"/>
          <p:nvPr/>
        </p:nvSpPr>
        <p:spPr>
          <a:xfrm>
            <a:off x="508000" y="5791200"/>
            <a:ext cx="7747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>
                <a:solidFill>
                  <a:srgbClr val="38B6FF"/>
                </a:solidFill>
                <a:latin typeface="Segoe UI Semibold" panose="020B0702040204020203" pitchFamily="34" charset="0"/>
              </a:rPr>
              <a:t>3</a:t>
            </a:r>
            <a:r>
              <a:rPr lang="en-US" sz="1900">
                <a:solidFill>
                  <a:srgbClr val="FFFFFF"/>
                </a:solidFill>
                <a:latin typeface="Segoe UI Semibold" panose="020B0702040204020203" pitchFamily="34" charset="0"/>
              </a:rPr>
              <a:t>  Rapid-drain gate: HOLD</a:t>
            </a:r>
          </a:p>
        </p:txBody>
      </p:sp>
      <p:sp>
        <p:nvSpPr>
          <p:cNvPr id="7" name="caption_line">
            <a:extLst>
              <a:ext uri="{FF2B5EF4-FFF2-40B4-BE49-F238E27FC236}">
                <a16:creationId xmlns:a16="http://schemas.microsoft.com/office/drawing/2014/main" id="{34D18F8B-B1E6-A9C8-ABAD-5786FDACD506}"/>
              </a:ext>
            </a:extLst>
          </p:cNvPr>
          <p:cNvSpPr txBox="1"/>
          <p:nvPr/>
        </p:nvSpPr>
        <p:spPr>
          <a:xfrm>
            <a:off x="508000" y="6121400"/>
            <a:ext cx="7747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50">
                <a:solidFill>
                  <a:srgbClr val="C8D6E5"/>
                </a:solidFill>
                <a:latin typeface="Segoe UI" panose="020B0502040204020203" pitchFamily="34" charset="0"/>
              </a:rPr>
              <a:t>65.4% of S$52,000 moved in 24 hours. Gate: 50%</a:t>
            </a:r>
          </a:p>
        </p:txBody>
      </p:sp>
      <p:sp>
        <p:nvSpPr>
          <p:cNvPr id="8" name="synthetic_tag">
            <a:extLst>
              <a:ext uri="{FF2B5EF4-FFF2-40B4-BE49-F238E27FC236}">
                <a16:creationId xmlns:a16="http://schemas.microsoft.com/office/drawing/2014/main" id="{45CBD610-B122-19F0-EB75-8477B496FC07}"/>
              </a:ext>
            </a:extLst>
          </p:cNvPr>
          <p:cNvSpPr/>
          <p:nvPr/>
        </p:nvSpPr>
        <p:spPr>
          <a:xfrm>
            <a:off x="10312400" y="203200"/>
            <a:ext cx="1676400" cy="304800"/>
          </a:xfrm>
          <a:prstGeom prst="roundRect">
            <a:avLst/>
          </a:prstGeom>
          <a:solidFill>
            <a:srgbClr val="070F1A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rgbClr val="BFE9FF"/>
                </a:solidFill>
                <a:latin typeface="Segoe UI Semibold" panose="020B0702040204020203" pitchFamily="34" charset="0"/>
              </a:rPr>
              <a:t>SYNTHETIC DATA · DEMO</a:t>
            </a:r>
          </a:p>
        </p:txBody>
      </p:sp>
    </p:spTree>
    <p:extLst>
      <p:ext uri="{BB962C8B-B14F-4D97-AF65-F5344CB8AC3E}">
        <p14:creationId xmlns:p14="http://schemas.microsoft.com/office/powerpoint/2010/main" val="19478066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 advClick="0" advTm="15970">
        <p159:morph option="byObject"/>
      </p:transition>
    </mc:Choice>
    <mc:Fallback>
      <p:transition spd="slow" advClick="0" advTm="1597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rame">
            <a:extLst>
              <a:ext uri="{FF2B5EF4-FFF2-40B4-BE49-F238E27FC236}">
                <a16:creationId xmlns:a16="http://schemas.microsoft.com/office/drawing/2014/main" id="{CE938BCA-5630-7AE9-92F6-0B644C5301B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aption_bar">
            <a:extLst>
              <a:ext uri="{FF2B5EF4-FFF2-40B4-BE49-F238E27FC236}">
                <a16:creationId xmlns:a16="http://schemas.microsoft.com/office/drawing/2014/main" id="{1042714F-AC93-2963-007C-4375A2D1969D}"/>
              </a:ext>
            </a:extLst>
          </p:cNvPr>
          <p:cNvSpPr/>
          <p:nvPr/>
        </p:nvSpPr>
        <p:spPr>
          <a:xfrm>
            <a:off x="304800" y="5740400"/>
            <a:ext cx="8128000" cy="838200"/>
          </a:xfrm>
          <a:prstGeom prst="roundRect">
            <a:avLst>
              <a:gd name="adj" fmla="val 18000"/>
            </a:avLst>
          </a:prstGeom>
          <a:solidFill>
            <a:srgbClr val="070F1A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ption_accent">
            <a:extLst>
              <a:ext uri="{FF2B5EF4-FFF2-40B4-BE49-F238E27FC236}">
                <a16:creationId xmlns:a16="http://schemas.microsoft.com/office/drawing/2014/main" id="{8E2738CA-9A47-57A4-5FDE-9DAD19658AF0}"/>
              </a:ext>
            </a:extLst>
          </p:cNvPr>
          <p:cNvSpPr/>
          <p:nvPr/>
        </p:nvSpPr>
        <p:spPr>
          <a:xfrm>
            <a:off x="304800" y="5740400"/>
            <a:ext cx="63500" cy="838200"/>
          </a:xfrm>
          <a:prstGeom prst="rect">
            <a:avLst/>
          </a:prstGeom>
          <a:solidFill>
            <a:srgbClr val="38B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ption_title">
            <a:extLst>
              <a:ext uri="{FF2B5EF4-FFF2-40B4-BE49-F238E27FC236}">
                <a16:creationId xmlns:a16="http://schemas.microsoft.com/office/drawing/2014/main" id="{8F3E577A-9152-1830-312B-ED10D3195375}"/>
              </a:ext>
            </a:extLst>
          </p:cNvPr>
          <p:cNvSpPr txBox="1"/>
          <p:nvPr/>
        </p:nvSpPr>
        <p:spPr>
          <a:xfrm>
            <a:off x="508000" y="5791200"/>
            <a:ext cx="7747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>
                <a:solidFill>
                  <a:srgbClr val="38B6FF"/>
                </a:solidFill>
                <a:latin typeface="Segoe UI Semibold" panose="020B0702040204020203" pitchFamily="34" charset="0"/>
              </a:rPr>
              <a:t>4</a:t>
            </a:r>
            <a:r>
              <a:rPr lang="en-US" sz="1900">
                <a:solidFill>
                  <a:srgbClr val="FFFFFF"/>
                </a:solidFill>
                <a:latin typeface="Segoe UI Semibold" panose="020B0702040204020203" pitchFamily="34" charset="0"/>
              </a:rPr>
              <a:t>  Deterministic attribution</a:t>
            </a:r>
          </a:p>
        </p:txBody>
      </p:sp>
      <p:sp>
        <p:nvSpPr>
          <p:cNvPr id="7" name="caption_line">
            <a:extLst>
              <a:ext uri="{FF2B5EF4-FFF2-40B4-BE49-F238E27FC236}">
                <a16:creationId xmlns:a16="http://schemas.microsoft.com/office/drawing/2014/main" id="{D9AD1148-4344-3D36-3196-AD14EA0E1AD9}"/>
              </a:ext>
            </a:extLst>
          </p:cNvPr>
          <p:cNvSpPr txBox="1"/>
          <p:nvPr/>
        </p:nvSpPr>
        <p:spPr>
          <a:xfrm>
            <a:off x="508000" y="6121400"/>
            <a:ext cx="7747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50">
                <a:solidFill>
                  <a:srgbClr val="C8D6E5"/>
                </a:solidFill>
                <a:latin typeface="Segoe UI" panose="020B0502040204020203" pitchFamily="34" charset="0"/>
              </a:rPr>
              <a:t>Score 95: every point traced to a rule</a:t>
            </a:r>
          </a:p>
        </p:txBody>
      </p:sp>
      <p:sp>
        <p:nvSpPr>
          <p:cNvPr id="8" name="synthetic_tag">
            <a:extLst>
              <a:ext uri="{FF2B5EF4-FFF2-40B4-BE49-F238E27FC236}">
                <a16:creationId xmlns:a16="http://schemas.microsoft.com/office/drawing/2014/main" id="{D798EC9D-3882-07CA-1399-4FDA777A8399}"/>
              </a:ext>
            </a:extLst>
          </p:cNvPr>
          <p:cNvSpPr/>
          <p:nvPr/>
        </p:nvSpPr>
        <p:spPr>
          <a:xfrm>
            <a:off x="10312400" y="203200"/>
            <a:ext cx="1676400" cy="304800"/>
          </a:xfrm>
          <a:prstGeom prst="roundRect">
            <a:avLst/>
          </a:prstGeom>
          <a:solidFill>
            <a:srgbClr val="070F1A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rgbClr val="BFE9FF"/>
                </a:solidFill>
                <a:latin typeface="Segoe UI Semibold" panose="020B0702040204020203" pitchFamily="34" charset="0"/>
              </a:rPr>
              <a:t>SYNTHETIC DATA · DEMO</a:t>
            </a:r>
          </a:p>
        </p:txBody>
      </p:sp>
      <p:pic>
        <p:nvPicPr>
          <p:cNvPr id="9" name="narration">
            <a:hlinkClick r:id="" action="ppaction://media"/>
            <a:extLst>
              <a:ext uri="{FF2B5EF4-FFF2-40B4-BE49-F238E27FC236}">
                <a16:creationId xmlns:a16="http://schemas.microsoft.com/office/drawing/2014/main" id="{3944ABA3-EEBA-0486-58BD-637F7B9563B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5" y="31845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354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 advClick="0" advTm="9210">
        <p:fade/>
      </p:transition>
    </mc:Choice>
    <mc:Fallback>
      <p:transition spd="med" advClick="0" advTm="921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93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numSld="2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rame">
            <a:extLst>
              <a:ext uri="{FF2B5EF4-FFF2-40B4-BE49-F238E27FC236}">
                <a16:creationId xmlns:a16="http://schemas.microsoft.com/office/drawing/2014/main" id="{CE938BCA-5630-7AE9-92F6-0B644C5301B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17600" y="-1358900"/>
            <a:ext cx="19940693" cy="11216640"/>
          </a:xfrm>
          <a:prstGeom prst="rect">
            <a:avLst/>
          </a:prstGeom>
        </p:spPr>
      </p:pic>
      <p:sp>
        <p:nvSpPr>
          <p:cNvPr id="4" name="caption_bar">
            <a:extLst>
              <a:ext uri="{FF2B5EF4-FFF2-40B4-BE49-F238E27FC236}">
                <a16:creationId xmlns:a16="http://schemas.microsoft.com/office/drawing/2014/main" id="{1042714F-AC93-2963-007C-4375A2D1969D}"/>
              </a:ext>
            </a:extLst>
          </p:cNvPr>
          <p:cNvSpPr/>
          <p:nvPr/>
        </p:nvSpPr>
        <p:spPr>
          <a:xfrm>
            <a:off x="304800" y="5740400"/>
            <a:ext cx="8128000" cy="838200"/>
          </a:xfrm>
          <a:prstGeom prst="roundRect">
            <a:avLst>
              <a:gd name="adj" fmla="val 18000"/>
            </a:avLst>
          </a:prstGeom>
          <a:solidFill>
            <a:srgbClr val="070F1A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ption_accent">
            <a:extLst>
              <a:ext uri="{FF2B5EF4-FFF2-40B4-BE49-F238E27FC236}">
                <a16:creationId xmlns:a16="http://schemas.microsoft.com/office/drawing/2014/main" id="{8E2738CA-9A47-57A4-5FDE-9DAD19658AF0}"/>
              </a:ext>
            </a:extLst>
          </p:cNvPr>
          <p:cNvSpPr/>
          <p:nvPr/>
        </p:nvSpPr>
        <p:spPr>
          <a:xfrm>
            <a:off x="304800" y="5740400"/>
            <a:ext cx="63500" cy="838200"/>
          </a:xfrm>
          <a:prstGeom prst="rect">
            <a:avLst/>
          </a:prstGeom>
          <a:solidFill>
            <a:srgbClr val="38B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ption_title">
            <a:extLst>
              <a:ext uri="{FF2B5EF4-FFF2-40B4-BE49-F238E27FC236}">
                <a16:creationId xmlns:a16="http://schemas.microsoft.com/office/drawing/2014/main" id="{8F3E577A-9152-1830-312B-ED10D3195375}"/>
              </a:ext>
            </a:extLst>
          </p:cNvPr>
          <p:cNvSpPr txBox="1"/>
          <p:nvPr/>
        </p:nvSpPr>
        <p:spPr>
          <a:xfrm>
            <a:off x="508000" y="5791200"/>
            <a:ext cx="7747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>
                <a:solidFill>
                  <a:srgbClr val="38B6FF"/>
                </a:solidFill>
                <a:latin typeface="Segoe UI Semibold" panose="020B0702040204020203" pitchFamily="34" charset="0"/>
              </a:rPr>
              <a:t>4</a:t>
            </a:r>
            <a:r>
              <a:rPr lang="en-US" sz="1900">
                <a:solidFill>
                  <a:srgbClr val="FFFFFF"/>
                </a:solidFill>
                <a:latin typeface="Segoe UI Semibold" panose="020B0702040204020203" pitchFamily="34" charset="0"/>
              </a:rPr>
              <a:t>  Deterministic attribution</a:t>
            </a:r>
          </a:p>
        </p:txBody>
      </p:sp>
      <p:sp>
        <p:nvSpPr>
          <p:cNvPr id="7" name="caption_line">
            <a:extLst>
              <a:ext uri="{FF2B5EF4-FFF2-40B4-BE49-F238E27FC236}">
                <a16:creationId xmlns:a16="http://schemas.microsoft.com/office/drawing/2014/main" id="{D9AD1148-4344-3D36-3196-AD14EA0E1AD9}"/>
              </a:ext>
            </a:extLst>
          </p:cNvPr>
          <p:cNvSpPr txBox="1"/>
          <p:nvPr/>
        </p:nvSpPr>
        <p:spPr>
          <a:xfrm>
            <a:off x="508000" y="6121400"/>
            <a:ext cx="7747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50">
                <a:solidFill>
                  <a:srgbClr val="C8D6E5"/>
                </a:solidFill>
                <a:latin typeface="Segoe UI" panose="020B0502040204020203" pitchFamily="34" charset="0"/>
              </a:rPr>
              <a:t>Score 95: every point traced to a rule</a:t>
            </a:r>
          </a:p>
        </p:txBody>
      </p:sp>
      <p:sp>
        <p:nvSpPr>
          <p:cNvPr id="8" name="synthetic_tag">
            <a:extLst>
              <a:ext uri="{FF2B5EF4-FFF2-40B4-BE49-F238E27FC236}">
                <a16:creationId xmlns:a16="http://schemas.microsoft.com/office/drawing/2014/main" id="{D798EC9D-3882-07CA-1399-4FDA777A8399}"/>
              </a:ext>
            </a:extLst>
          </p:cNvPr>
          <p:cNvSpPr/>
          <p:nvPr/>
        </p:nvSpPr>
        <p:spPr>
          <a:xfrm>
            <a:off x="10312400" y="203200"/>
            <a:ext cx="1676400" cy="304800"/>
          </a:xfrm>
          <a:prstGeom prst="roundRect">
            <a:avLst/>
          </a:prstGeom>
          <a:solidFill>
            <a:srgbClr val="070F1A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rgbClr val="BFE9FF"/>
                </a:solidFill>
                <a:latin typeface="Segoe UI Semibold" panose="020B0702040204020203" pitchFamily="34" charset="0"/>
              </a:rPr>
              <a:t>SYNTHETIC DATA · DEMO</a:t>
            </a:r>
          </a:p>
        </p:txBody>
      </p:sp>
    </p:spTree>
    <p:extLst>
      <p:ext uri="{BB962C8B-B14F-4D97-AF65-F5344CB8AC3E}">
        <p14:creationId xmlns:p14="http://schemas.microsoft.com/office/powerpoint/2010/main" val="3234578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 advClick="0" advTm="12720">
        <p159:morph option="byObject"/>
      </p:transition>
    </mc:Choice>
    <mc:Fallback>
      <p:transition spd="slow" advClick="0" advTm="1272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rame">
            <a:extLst>
              <a:ext uri="{FF2B5EF4-FFF2-40B4-BE49-F238E27FC236}">
                <a16:creationId xmlns:a16="http://schemas.microsoft.com/office/drawing/2014/main" id="{D93AD908-9D96-5245-8CFF-90CF1D53384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aption_bar">
            <a:extLst>
              <a:ext uri="{FF2B5EF4-FFF2-40B4-BE49-F238E27FC236}">
                <a16:creationId xmlns:a16="http://schemas.microsoft.com/office/drawing/2014/main" id="{E2F770B0-A962-2938-3F13-F0BF644D81A3}"/>
              </a:ext>
            </a:extLst>
          </p:cNvPr>
          <p:cNvSpPr/>
          <p:nvPr/>
        </p:nvSpPr>
        <p:spPr>
          <a:xfrm>
            <a:off x="304800" y="5740400"/>
            <a:ext cx="8128000" cy="838200"/>
          </a:xfrm>
          <a:prstGeom prst="roundRect">
            <a:avLst>
              <a:gd name="adj" fmla="val 18000"/>
            </a:avLst>
          </a:prstGeom>
          <a:solidFill>
            <a:srgbClr val="070F1A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ption_accent">
            <a:extLst>
              <a:ext uri="{FF2B5EF4-FFF2-40B4-BE49-F238E27FC236}">
                <a16:creationId xmlns:a16="http://schemas.microsoft.com/office/drawing/2014/main" id="{D39B6262-AC29-15E9-024E-ADC61A66C9AC}"/>
              </a:ext>
            </a:extLst>
          </p:cNvPr>
          <p:cNvSpPr/>
          <p:nvPr/>
        </p:nvSpPr>
        <p:spPr>
          <a:xfrm>
            <a:off x="304800" y="5740400"/>
            <a:ext cx="63500" cy="838200"/>
          </a:xfrm>
          <a:prstGeom prst="rect">
            <a:avLst/>
          </a:prstGeom>
          <a:solidFill>
            <a:srgbClr val="38B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ption_title">
            <a:extLst>
              <a:ext uri="{FF2B5EF4-FFF2-40B4-BE49-F238E27FC236}">
                <a16:creationId xmlns:a16="http://schemas.microsoft.com/office/drawing/2014/main" id="{523FD9A7-D8F6-5D2F-9EA9-CE76906FD084}"/>
              </a:ext>
            </a:extLst>
          </p:cNvPr>
          <p:cNvSpPr txBox="1"/>
          <p:nvPr/>
        </p:nvSpPr>
        <p:spPr>
          <a:xfrm>
            <a:off x="508000" y="5791200"/>
            <a:ext cx="7747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>
                <a:solidFill>
                  <a:srgbClr val="38B6FF"/>
                </a:solidFill>
                <a:latin typeface="Segoe UI Semibold" panose="020B0702040204020203" pitchFamily="34" charset="0"/>
              </a:rPr>
              <a:t>5</a:t>
            </a:r>
            <a:r>
              <a:rPr lang="en-US" sz="1900">
                <a:solidFill>
                  <a:srgbClr val="FFFFFF"/>
                </a:solidFill>
                <a:latin typeface="Segoe UI Semibold" panose="020B0702040204020203" pitchFamily="34" charset="0"/>
              </a:rPr>
              <a:t>  AI explains</a:t>
            </a:r>
          </a:p>
        </p:txBody>
      </p:sp>
      <p:sp>
        <p:nvSpPr>
          <p:cNvPr id="7" name="caption_line">
            <a:extLst>
              <a:ext uri="{FF2B5EF4-FFF2-40B4-BE49-F238E27FC236}">
                <a16:creationId xmlns:a16="http://schemas.microsoft.com/office/drawing/2014/main" id="{10DB0AAE-20BD-A1D8-772A-DD789EAB06FB}"/>
              </a:ext>
            </a:extLst>
          </p:cNvPr>
          <p:cNvSpPr txBox="1"/>
          <p:nvPr/>
        </p:nvSpPr>
        <p:spPr>
          <a:xfrm>
            <a:off x="508000" y="6121400"/>
            <a:ext cx="7747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50">
                <a:solidFill>
                  <a:srgbClr val="C8D6E5"/>
                </a:solidFill>
                <a:latin typeface="Segoe UI" panose="020B0502040204020203" pitchFamily="34" charset="0"/>
              </a:rPr>
              <a:t>Gemini on Vertex AI. Advisory only. Every claim cites evidence.</a:t>
            </a:r>
          </a:p>
        </p:txBody>
      </p:sp>
      <p:sp>
        <p:nvSpPr>
          <p:cNvPr id="8" name="synthetic_tag">
            <a:extLst>
              <a:ext uri="{FF2B5EF4-FFF2-40B4-BE49-F238E27FC236}">
                <a16:creationId xmlns:a16="http://schemas.microsoft.com/office/drawing/2014/main" id="{E779B33B-E856-3D55-0A60-861A27DB807E}"/>
              </a:ext>
            </a:extLst>
          </p:cNvPr>
          <p:cNvSpPr/>
          <p:nvPr/>
        </p:nvSpPr>
        <p:spPr>
          <a:xfrm>
            <a:off x="10312400" y="203200"/>
            <a:ext cx="1676400" cy="304800"/>
          </a:xfrm>
          <a:prstGeom prst="roundRect">
            <a:avLst/>
          </a:prstGeom>
          <a:solidFill>
            <a:srgbClr val="070F1A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rgbClr val="BFE9FF"/>
                </a:solidFill>
                <a:latin typeface="Segoe UI Semibold" panose="020B0702040204020203" pitchFamily="34" charset="0"/>
              </a:rPr>
              <a:t>SYNTHETIC DATA · DEMO</a:t>
            </a:r>
          </a:p>
        </p:txBody>
      </p:sp>
      <p:pic>
        <p:nvPicPr>
          <p:cNvPr id="9" name="narration">
            <a:hlinkClick r:id="" action="ppaction://media"/>
            <a:extLst>
              <a:ext uri="{FF2B5EF4-FFF2-40B4-BE49-F238E27FC236}">
                <a16:creationId xmlns:a16="http://schemas.microsoft.com/office/drawing/2014/main" id="{29CFA18D-5DF7-6DD4-8F5E-FFCB4FC6340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5" y="31845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5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 advClick="0" advTm="7810">
        <p:fade/>
      </p:transition>
    </mc:Choice>
    <mc:Fallback>
      <p:transition spd="med" advClick="0" advTm="781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596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numSld="2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rame">
            <a:extLst>
              <a:ext uri="{FF2B5EF4-FFF2-40B4-BE49-F238E27FC236}">
                <a16:creationId xmlns:a16="http://schemas.microsoft.com/office/drawing/2014/main" id="{D93AD908-9D96-5245-8CFF-90CF1D53384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2600" y="-546100"/>
            <a:ext cx="13167361" cy="7406640"/>
          </a:xfrm>
          <a:prstGeom prst="rect">
            <a:avLst/>
          </a:prstGeom>
        </p:spPr>
      </p:pic>
      <p:sp>
        <p:nvSpPr>
          <p:cNvPr id="4" name="caption_bar">
            <a:extLst>
              <a:ext uri="{FF2B5EF4-FFF2-40B4-BE49-F238E27FC236}">
                <a16:creationId xmlns:a16="http://schemas.microsoft.com/office/drawing/2014/main" id="{E2F770B0-A962-2938-3F13-F0BF644D81A3}"/>
              </a:ext>
            </a:extLst>
          </p:cNvPr>
          <p:cNvSpPr/>
          <p:nvPr/>
        </p:nvSpPr>
        <p:spPr>
          <a:xfrm>
            <a:off x="304800" y="5740400"/>
            <a:ext cx="8128000" cy="838200"/>
          </a:xfrm>
          <a:prstGeom prst="roundRect">
            <a:avLst>
              <a:gd name="adj" fmla="val 18000"/>
            </a:avLst>
          </a:prstGeom>
          <a:solidFill>
            <a:srgbClr val="070F1A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ption_accent">
            <a:extLst>
              <a:ext uri="{FF2B5EF4-FFF2-40B4-BE49-F238E27FC236}">
                <a16:creationId xmlns:a16="http://schemas.microsoft.com/office/drawing/2014/main" id="{D39B6262-AC29-15E9-024E-ADC61A66C9AC}"/>
              </a:ext>
            </a:extLst>
          </p:cNvPr>
          <p:cNvSpPr/>
          <p:nvPr/>
        </p:nvSpPr>
        <p:spPr>
          <a:xfrm>
            <a:off x="304800" y="5740400"/>
            <a:ext cx="63500" cy="838200"/>
          </a:xfrm>
          <a:prstGeom prst="rect">
            <a:avLst/>
          </a:prstGeom>
          <a:solidFill>
            <a:srgbClr val="38B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ption_title">
            <a:extLst>
              <a:ext uri="{FF2B5EF4-FFF2-40B4-BE49-F238E27FC236}">
                <a16:creationId xmlns:a16="http://schemas.microsoft.com/office/drawing/2014/main" id="{523FD9A7-D8F6-5D2F-9EA9-CE76906FD084}"/>
              </a:ext>
            </a:extLst>
          </p:cNvPr>
          <p:cNvSpPr txBox="1"/>
          <p:nvPr/>
        </p:nvSpPr>
        <p:spPr>
          <a:xfrm>
            <a:off x="508000" y="5791200"/>
            <a:ext cx="7747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>
                <a:solidFill>
                  <a:srgbClr val="38B6FF"/>
                </a:solidFill>
                <a:latin typeface="Segoe UI Semibold" panose="020B0702040204020203" pitchFamily="34" charset="0"/>
              </a:rPr>
              <a:t>5</a:t>
            </a:r>
            <a:r>
              <a:rPr lang="en-US" sz="1900">
                <a:solidFill>
                  <a:srgbClr val="FFFFFF"/>
                </a:solidFill>
                <a:latin typeface="Segoe UI Semibold" panose="020B0702040204020203" pitchFamily="34" charset="0"/>
              </a:rPr>
              <a:t>  AI explains</a:t>
            </a:r>
          </a:p>
        </p:txBody>
      </p:sp>
      <p:sp>
        <p:nvSpPr>
          <p:cNvPr id="7" name="caption_line">
            <a:extLst>
              <a:ext uri="{FF2B5EF4-FFF2-40B4-BE49-F238E27FC236}">
                <a16:creationId xmlns:a16="http://schemas.microsoft.com/office/drawing/2014/main" id="{10DB0AAE-20BD-A1D8-772A-DD789EAB06FB}"/>
              </a:ext>
            </a:extLst>
          </p:cNvPr>
          <p:cNvSpPr txBox="1"/>
          <p:nvPr/>
        </p:nvSpPr>
        <p:spPr>
          <a:xfrm>
            <a:off x="508000" y="6121400"/>
            <a:ext cx="7747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50">
                <a:solidFill>
                  <a:srgbClr val="C8D6E5"/>
                </a:solidFill>
                <a:latin typeface="Segoe UI" panose="020B0502040204020203" pitchFamily="34" charset="0"/>
              </a:rPr>
              <a:t>Gemini on Vertex AI. Advisory only. Every claim cites evidence.</a:t>
            </a:r>
          </a:p>
        </p:txBody>
      </p:sp>
      <p:sp>
        <p:nvSpPr>
          <p:cNvPr id="8" name="synthetic_tag">
            <a:extLst>
              <a:ext uri="{FF2B5EF4-FFF2-40B4-BE49-F238E27FC236}">
                <a16:creationId xmlns:a16="http://schemas.microsoft.com/office/drawing/2014/main" id="{E779B33B-E856-3D55-0A60-861A27DB807E}"/>
              </a:ext>
            </a:extLst>
          </p:cNvPr>
          <p:cNvSpPr/>
          <p:nvPr/>
        </p:nvSpPr>
        <p:spPr>
          <a:xfrm>
            <a:off x="10312400" y="203200"/>
            <a:ext cx="1676400" cy="304800"/>
          </a:xfrm>
          <a:prstGeom prst="roundRect">
            <a:avLst/>
          </a:prstGeom>
          <a:solidFill>
            <a:srgbClr val="070F1A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rgbClr val="BFE9FF"/>
                </a:solidFill>
                <a:latin typeface="Segoe UI Semibold" panose="020B0702040204020203" pitchFamily="34" charset="0"/>
              </a:rPr>
              <a:t>SYNTHETIC DATA · DEMO</a:t>
            </a:r>
          </a:p>
        </p:txBody>
      </p:sp>
    </p:spTree>
    <p:extLst>
      <p:ext uri="{BB962C8B-B14F-4D97-AF65-F5344CB8AC3E}">
        <p14:creationId xmlns:p14="http://schemas.microsoft.com/office/powerpoint/2010/main" val="9166599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 advClick="0" advTm="10790">
        <p159:morph option="byObject"/>
      </p:transition>
    </mc:Choice>
    <mc:Fallback>
      <p:transition spd="slow" advClick="0" advTm="1079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rame">
            <a:extLst>
              <a:ext uri="{FF2B5EF4-FFF2-40B4-BE49-F238E27FC236}">
                <a16:creationId xmlns:a16="http://schemas.microsoft.com/office/drawing/2014/main" id="{83B03DCF-CA9D-0C4D-17F6-2EFB042D7ED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aption_bar">
            <a:extLst>
              <a:ext uri="{FF2B5EF4-FFF2-40B4-BE49-F238E27FC236}">
                <a16:creationId xmlns:a16="http://schemas.microsoft.com/office/drawing/2014/main" id="{4C950FA3-EE91-9EBF-9178-EE218D43B8A9}"/>
              </a:ext>
            </a:extLst>
          </p:cNvPr>
          <p:cNvSpPr/>
          <p:nvPr/>
        </p:nvSpPr>
        <p:spPr>
          <a:xfrm>
            <a:off x="304800" y="5740400"/>
            <a:ext cx="8128000" cy="838200"/>
          </a:xfrm>
          <a:prstGeom prst="roundRect">
            <a:avLst>
              <a:gd name="adj" fmla="val 18000"/>
            </a:avLst>
          </a:prstGeom>
          <a:solidFill>
            <a:srgbClr val="070F1A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ption_accent">
            <a:extLst>
              <a:ext uri="{FF2B5EF4-FFF2-40B4-BE49-F238E27FC236}">
                <a16:creationId xmlns:a16="http://schemas.microsoft.com/office/drawing/2014/main" id="{727B7791-E5E1-B53C-6EE2-63BB2A3598D2}"/>
              </a:ext>
            </a:extLst>
          </p:cNvPr>
          <p:cNvSpPr/>
          <p:nvPr/>
        </p:nvSpPr>
        <p:spPr>
          <a:xfrm>
            <a:off x="304800" y="5740400"/>
            <a:ext cx="63500" cy="838200"/>
          </a:xfrm>
          <a:prstGeom prst="rect">
            <a:avLst/>
          </a:prstGeom>
          <a:solidFill>
            <a:srgbClr val="38B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ption_title">
            <a:extLst>
              <a:ext uri="{FF2B5EF4-FFF2-40B4-BE49-F238E27FC236}">
                <a16:creationId xmlns:a16="http://schemas.microsoft.com/office/drawing/2014/main" id="{0D3E45E5-E368-DF65-DB86-AA4D7B99FB24}"/>
              </a:ext>
            </a:extLst>
          </p:cNvPr>
          <p:cNvSpPr txBox="1"/>
          <p:nvPr/>
        </p:nvSpPr>
        <p:spPr>
          <a:xfrm>
            <a:off x="508000" y="5791200"/>
            <a:ext cx="7747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>
                <a:solidFill>
                  <a:srgbClr val="38B6FF"/>
                </a:solidFill>
                <a:latin typeface="Segoe UI Semibold" panose="020B0702040204020203" pitchFamily="34" charset="0"/>
              </a:rPr>
              <a:t>6</a:t>
            </a:r>
            <a:r>
              <a:rPr lang="en-US" sz="1900">
                <a:solidFill>
                  <a:srgbClr val="FFFFFF"/>
                </a:solidFill>
                <a:latin typeface="Segoe UI Semibold" panose="020B0702040204020203" pitchFamily="34" charset="0"/>
              </a:rPr>
              <a:t>  Network and fund trace</a:t>
            </a:r>
          </a:p>
        </p:txBody>
      </p:sp>
      <p:sp>
        <p:nvSpPr>
          <p:cNvPr id="7" name="caption_line">
            <a:extLst>
              <a:ext uri="{FF2B5EF4-FFF2-40B4-BE49-F238E27FC236}">
                <a16:creationId xmlns:a16="http://schemas.microsoft.com/office/drawing/2014/main" id="{BB751703-AF24-2262-3A38-52E7BB17692E}"/>
              </a:ext>
            </a:extLst>
          </p:cNvPr>
          <p:cNvSpPr txBox="1"/>
          <p:nvPr/>
        </p:nvSpPr>
        <p:spPr>
          <a:xfrm>
            <a:off x="508000" y="6121400"/>
            <a:ext cx="7747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50">
                <a:solidFill>
                  <a:srgbClr val="C8D6E5"/>
                </a:solidFill>
                <a:latin typeface="Segoe UI" panose="020B0502040204020203" pitchFamily="34" charset="0"/>
              </a:rPr>
              <a:t>Cross-bank trace with an explicit observed boundary</a:t>
            </a:r>
          </a:p>
        </p:txBody>
      </p:sp>
      <p:sp>
        <p:nvSpPr>
          <p:cNvPr id="8" name="synthetic_tag">
            <a:extLst>
              <a:ext uri="{FF2B5EF4-FFF2-40B4-BE49-F238E27FC236}">
                <a16:creationId xmlns:a16="http://schemas.microsoft.com/office/drawing/2014/main" id="{41B0BAA2-45FC-5D1A-C5E2-20BFD02FE914}"/>
              </a:ext>
            </a:extLst>
          </p:cNvPr>
          <p:cNvSpPr/>
          <p:nvPr/>
        </p:nvSpPr>
        <p:spPr>
          <a:xfrm>
            <a:off x="10312400" y="203200"/>
            <a:ext cx="1676400" cy="304800"/>
          </a:xfrm>
          <a:prstGeom prst="roundRect">
            <a:avLst/>
          </a:prstGeom>
          <a:solidFill>
            <a:srgbClr val="070F1A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rgbClr val="BFE9FF"/>
                </a:solidFill>
                <a:latin typeface="Segoe UI Semibold" panose="020B0702040204020203" pitchFamily="34" charset="0"/>
              </a:rPr>
              <a:t>SYNTHETIC DATA · DEMO</a:t>
            </a:r>
          </a:p>
        </p:txBody>
      </p:sp>
      <p:pic>
        <p:nvPicPr>
          <p:cNvPr id="9" name="narration">
            <a:hlinkClick r:id="" action="ppaction://media"/>
            <a:extLst>
              <a:ext uri="{FF2B5EF4-FFF2-40B4-BE49-F238E27FC236}">
                <a16:creationId xmlns:a16="http://schemas.microsoft.com/office/drawing/2014/main" id="{B1580602-49A8-DC27-6F53-1428A642DCE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5" y="31845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6400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 advClick="0" advTm="8910">
        <p:fade/>
      </p:transition>
    </mc:Choice>
    <mc:Fallback>
      <p:transition spd="med" advClick="0" advTm="891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205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numSld="2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rame">
            <a:extLst>
              <a:ext uri="{FF2B5EF4-FFF2-40B4-BE49-F238E27FC236}">
                <a16:creationId xmlns:a16="http://schemas.microsoft.com/office/drawing/2014/main" id="{83B03DCF-CA9D-0C4D-17F6-2EFB042D7ED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40100" y="-1917700"/>
            <a:ext cx="17092023" cy="9614263"/>
          </a:xfrm>
          <a:prstGeom prst="rect">
            <a:avLst/>
          </a:prstGeom>
        </p:spPr>
      </p:pic>
      <p:sp>
        <p:nvSpPr>
          <p:cNvPr id="4" name="caption_bar">
            <a:extLst>
              <a:ext uri="{FF2B5EF4-FFF2-40B4-BE49-F238E27FC236}">
                <a16:creationId xmlns:a16="http://schemas.microsoft.com/office/drawing/2014/main" id="{4C950FA3-EE91-9EBF-9178-EE218D43B8A9}"/>
              </a:ext>
            </a:extLst>
          </p:cNvPr>
          <p:cNvSpPr/>
          <p:nvPr/>
        </p:nvSpPr>
        <p:spPr>
          <a:xfrm>
            <a:off x="304800" y="5740400"/>
            <a:ext cx="8128000" cy="838200"/>
          </a:xfrm>
          <a:prstGeom prst="roundRect">
            <a:avLst>
              <a:gd name="adj" fmla="val 18000"/>
            </a:avLst>
          </a:prstGeom>
          <a:solidFill>
            <a:srgbClr val="070F1A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ption_accent">
            <a:extLst>
              <a:ext uri="{FF2B5EF4-FFF2-40B4-BE49-F238E27FC236}">
                <a16:creationId xmlns:a16="http://schemas.microsoft.com/office/drawing/2014/main" id="{727B7791-E5E1-B53C-6EE2-63BB2A3598D2}"/>
              </a:ext>
            </a:extLst>
          </p:cNvPr>
          <p:cNvSpPr/>
          <p:nvPr/>
        </p:nvSpPr>
        <p:spPr>
          <a:xfrm>
            <a:off x="304800" y="5740400"/>
            <a:ext cx="63500" cy="838200"/>
          </a:xfrm>
          <a:prstGeom prst="rect">
            <a:avLst/>
          </a:prstGeom>
          <a:solidFill>
            <a:srgbClr val="38B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ption_title">
            <a:extLst>
              <a:ext uri="{FF2B5EF4-FFF2-40B4-BE49-F238E27FC236}">
                <a16:creationId xmlns:a16="http://schemas.microsoft.com/office/drawing/2014/main" id="{0D3E45E5-E368-DF65-DB86-AA4D7B99FB24}"/>
              </a:ext>
            </a:extLst>
          </p:cNvPr>
          <p:cNvSpPr txBox="1"/>
          <p:nvPr/>
        </p:nvSpPr>
        <p:spPr>
          <a:xfrm>
            <a:off x="508000" y="5791200"/>
            <a:ext cx="7747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>
                <a:solidFill>
                  <a:srgbClr val="38B6FF"/>
                </a:solidFill>
                <a:latin typeface="Segoe UI Semibold" panose="020B0702040204020203" pitchFamily="34" charset="0"/>
              </a:rPr>
              <a:t>6</a:t>
            </a:r>
            <a:r>
              <a:rPr lang="en-US" sz="1900">
                <a:solidFill>
                  <a:srgbClr val="FFFFFF"/>
                </a:solidFill>
                <a:latin typeface="Segoe UI Semibold" panose="020B0702040204020203" pitchFamily="34" charset="0"/>
              </a:rPr>
              <a:t>  Network and fund trace</a:t>
            </a:r>
          </a:p>
        </p:txBody>
      </p:sp>
      <p:sp>
        <p:nvSpPr>
          <p:cNvPr id="7" name="caption_line">
            <a:extLst>
              <a:ext uri="{FF2B5EF4-FFF2-40B4-BE49-F238E27FC236}">
                <a16:creationId xmlns:a16="http://schemas.microsoft.com/office/drawing/2014/main" id="{BB751703-AF24-2262-3A38-52E7BB17692E}"/>
              </a:ext>
            </a:extLst>
          </p:cNvPr>
          <p:cNvSpPr txBox="1"/>
          <p:nvPr/>
        </p:nvSpPr>
        <p:spPr>
          <a:xfrm>
            <a:off x="508000" y="6121400"/>
            <a:ext cx="7747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50">
                <a:solidFill>
                  <a:srgbClr val="C8D6E5"/>
                </a:solidFill>
                <a:latin typeface="Segoe UI" panose="020B0502040204020203" pitchFamily="34" charset="0"/>
              </a:rPr>
              <a:t>Cross-bank trace with an explicit observed boundary</a:t>
            </a:r>
          </a:p>
        </p:txBody>
      </p:sp>
      <p:sp>
        <p:nvSpPr>
          <p:cNvPr id="8" name="synthetic_tag">
            <a:extLst>
              <a:ext uri="{FF2B5EF4-FFF2-40B4-BE49-F238E27FC236}">
                <a16:creationId xmlns:a16="http://schemas.microsoft.com/office/drawing/2014/main" id="{41B0BAA2-45FC-5D1A-C5E2-20BFD02FE914}"/>
              </a:ext>
            </a:extLst>
          </p:cNvPr>
          <p:cNvSpPr/>
          <p:nvPr/>
        </p:nvSpPr>
        <p:spPr>
          <a:xfrm>
            <a:off x="10312400" y="203200"/>
            <a:ext cx="1676400" cy="304800"/>
          </a:xfrm>
          <a:prstGeom prst="roundRect">
            <a:avLst/>
          </a:prstGeom>
          <a:solidFill>
            <a:srgbClr val="070F1A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rgbClr val="BFE9FF"/>
                </a:solidFill>
                <a:latin typeface="Segoe UI Semibold" panose="020B0702040204020203" pitchFamily="34" charset="0"/>
              </a:rPr>
              <a:t>SYNTHETIC DATA · DEMO</a:t>
            </a:r>
          </a:p>
        </p:txBody>
      </p:sp>
    </p:spTree>
    <p:extLst>
      <p:ext uri="{BB962C8B-B14F-4D97-AF65-F5344CB8AC3E}">
        <p14:creationId xmlns:p14="http://schemas.microsoft.com/office/powerpoint/2010/main" val="14651510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 advClick="0" advTm="12300">
        <p159:morph option="byObject"/>
      </p:transition>
    </mc:Choice>
    <mc:Fallback>
      <p:transition spd="slow" advClick="0" advTm="123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rame">
            <a:extLst>
              <a:ext uri="{FF2B5EF4-FFF2-40B4-BE49-F238E27FC236}">
                <a16:creationId xmlns:a16="http://schemas.microsoft.com/office/drawing/2014/main" id="{0AC43665-8772-9155-DDDC-556130FB481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aption_bar">
            <a:extLst>
              <a:ext uri="{FF2B5EF4-FFF2-40B4-BE49-F238E27FC236}">
                <a16:creationId xmlns:a16="http://schemas.microsoft.com/office/drawing/2014/main" id="{6A22F720-A64A-D6E8-B650-60565AB20C0B}"/>
              </a:ext>
            </a:extLst>
          </p:cNvPr>
          <p:cNvSpPr/>
          <p:nvPr/>
        </p:nvSpPr>
        <p:spPr>
          <a:xfrm>
            <a:off x="304800" y="5740400"/>
            <a:ext cx="8128000" cy="838200"/>
          </a:xfrm>
          <a:prstGeom prst="roundRect">
            <a:avLst>
              <a:gd name="adj" fmla="val 18000"/>
            </a:avLst>
          </a:prstGeom>
          <a:solidFill>
            <a:srgbClr val="070F1A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ption_accent">
            <a:extLst>
              <a:ext uri="{FF2B5EF4-FFF2-40B4-BE49-F238E27FC236}">
                <a16:creationId xmlns:a16="http://schemas.microsoft.com/office/drawing/2014/main" id="{D56A32E4-3EDF-0BE7-0457-491A8977CE99}"/>
              </a:ext>
            </a:extLst>
          </p:cNvPr>
          <p:cNvSpPr/>
          <p:nvPr/>
        </p:nvSpPr>
        <p:spPr>
          <a:xfrm>
            <a:off x="304800" y="5740400"/>
            <a:ext cx="63500" cy="838200"/>
          </a:xfrm>
          <a:prstGeom prst="rect">
            <a:avLst/>
          </a:prstGeom>
          <a:solidFill>
            <a:srgbClr val="38B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ption_title">
            <a:extLst>
              <a:ext uri="{FF2B5EF4-FFF2-40B4-BE49-F238E27FC236}">
                <a16:creationId xmlns:a16="http://schemas.microsoft.com/office/drawing/2014/main" id="{A5AED9FF-7DB2-00EE-9456-405C81CC5A98}"/>
              </a:ext>
            </a:extLst>
          </p:cNvPr>
          <p:cNvSpPr txBox="1"/>
          <p:nvPr/>
        </p:nvSpPr>
        <p:spPr>
          <a:xfrm>
            <a:off x="508000" y="5791200"/>
            <a:ext cx="7747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>
                <a:solidFill>
                  <a:srgbClr val="38B6FF"/>
                </a:solidFill>
                <a:latin typeface="Segoe UI Semibold" panose="020B0702040204020203" pitchFamily="34" charset="0"/>
              </a:rPr>
              <a:t>7</a:t>
            </a:r>
            <a:r>
              <a:rPr lang="en-US" sz="1900">
                <a:solidFill>
                  <a:srgbClr val="FFFFFF"/>
                </a:solidFill>
                <a:latin typeface="Segoe UI Semibold" panose="020B0702040204020203" pitchFamily="34" charset="0"/>
              </a:rPr>
              <a:t>  Humans authorize</a:t>
            </a:r>
          </a:p>
        </p:txBody>
      </p:sp>
      <p:sp>
        <p:nvSpPr>
          <p:cNvPr id="7" name="caption_line">
            <a:extLst>
              <a:ext uri="{FF2B5EF4-FFF2-40B4-BE49-F238E27FC236}">
                <a16:creationId xmlns:a16="http://schemas.microsoft.com/office/drawing/2014/main" id="{B1553743-96FE-3377-AF83-977C53B948A9}"/>
              </a:ext>
            </a:extLst>
          </p:cNvPr>
          <p:cNvSpPr txBox="1"/>
          <p:nvPr/>
        </p:nvSpPr>
        <p:spPr>
          <a:xfrm>
            <a:off x="508000" y="6121400"/>
            <a:ext cx="7747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50">
                <a:solidFill>
                  <a:srgbClr val="C8D6E5"/>
                </a:solidFill>
                <a:latin typeface="Segoe UI" panose="020B0502040204020203" pitchFamily="34" charset="0"/>
              </a:rPr>
              <a:t>Contact customer, kill switch, verified release. All audited.</a:t>
            </a:r>
          </a:p>
        </p:txBody>
      </p:sp>
      <p:sp>
        <p:nvSpPr>
          <p:cNvPr id="8" name="synthetic_tag">
            <a:extLst>
              <a:ext uri="{FF2B5EF4-FFF2-40B4-BE49-F238E27FC236}">
                <a16:creationId xmlns:a16="http://schemas.microsoft.com/office/drawing/2014/main" id="{8CCEFF5F-7942-7399-F36B-6B89EA298B68}"/>
              </a:ext>
            </a:extLst>
          </p:cNvPr>
          <p:cNvSpPr/>
          <p:nvPr/>
        </p:nvSpPr>
        <p:spPr>
          <a:xfrm>
            <a:off x="10312400" y="203200"/>
            <a:ext cx="1676400" cy="304800"/>
          </a:xfrm>
          <a:prstGeom prst="roundRect">
            <a:avLst/>
          </a:prstGeom>
          <a:solidFill>
            <a:srgbClr val="070F1A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rgbClr val="BFE9FF"/>
                </a:solidFill>
                <a:latin typeface="Segoe UI Semibold" panose="020B0702040204020203" pitchFamily="34" charset="0"/>
              </a:rPr>
              <a:t>SYNTHETIC DATA · DEMO</a:t>
            </a:r>
          </a:p>
        </p:txBody>
      </p:sp>
      <p:pic>
        <p:nvPicPr>
          <p:cNvPr id="9" name="narration">
            <a:hlinkClick r:id="" action="ppaction://media"/>
            <a:extLst>
              <a:ext uri="{FF2B5EF4-FFF2-40B4-BE49-F238E27FC236}">
                <a16:creationId xmlns:a16="http://schemas.microsoft.com/office/drawing/2014/main" id="{A84E97BC-0EBA-6854-8064-95FE297DD1B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5" y="31845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672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 advClick="0" advTm="8910">
        <p:fade/>
      </p:transition>
    </mc:Choice>
    <mc:Fallback>
      <p:transition spd="med" advClick="0" advTm="891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215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numSld="2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rame">
            <a:extLst>
              <a:ext uri="{FF2B5EF4-FFF2-40B4-BE49-F238E27FC236}">
                <a16:creationId xmlns:a16="http://schemas.microsoft.com/office/drawing/2014/main" id="{0AC43665-8772-9155-DDDC-556130FB481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3100" y="-2870200"/>
            <a:ext cx="17946624" cy="10094976"/>
          </a:xfrm>
          <a:prstGeom prst="rect">
            <a:avLst/>
          </a:prstGeom>
        </p:spPr>
      </p:pic>
      <p:sp>
        <p:nvSpPr>
          <p:cNvPr id="4" name="caption_bar">
            <a:extLst>
              <a:ext uri="{FF2B5EF4-FFF2-40B4-BE49-F238E27FC236}">
                <a16:creationId xmlns:a16="http://schemas.microsoft.com/office/drawing/2014/main" id="{6A22F720-A64A-D6E8-B650-60565AB20C0B}"/>
              </a:ext>
            </a:extLst>
          </p:cNvPr>
          <p:cNvSpPr/>
          <p:nvPr/>
        </p:nvSpPr>
        <p:spPr>
          <a:xfrm>
            <a:off x="304800" y="5740400"/>
            <a:ext cx="8128000" cy="838200"/>
          </a:xfrm>
          <a:prstGeom prst="roundRect">
            <a:avLst>
              <a:gd name="adj" fmla="val 18000"/>
            </a:avLst>
          </a:prstGeom>
          <a:solidFill>
            <a:srgbClr val="070F1A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ption_accent">
            <a:extLst>
              <a:ext uri="{FF2B5EF4-FFF2-40B4-BE49-F238E27FC236}">
                <a16:creationId xmlns:a16="http://schemas.microsoft.com/office/drawing/2014/main" id="{D56A32E4-3EDF-0BE7-0457-491A8977CE99}"/>
              </a:ext>
            </a:extLst>
          </p:cNvPr>
          <p:cNvSpPr/>
          <p:nvPr/>
        </p:nvSpPr>
        <p:spPr>
          <a:xfrm>
            <a:off x="304800" y="5740400"/>
            <a:ext cx="63500" cy="838200"/>
          </a:xfrm>
          <a:prstGeom prst="rect">
            <a:avLst/>
          </a:prstGeom>
          <a:solidFill>
            <a:srgbClr val="38B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ption_title">
            <a:extLst>
              <a:ext uri="{FF2B5EF4-FFF2-40B4-BE49-F238E27FC236}">
                <a16:creationId xmlns:a16="http://schemas.microsoft.com/office/drawing/2014/main" id="{A5AED9FF-7DB2-00EE-9456-405C81CC5A98}"/>
              </a:ext>
            </a:extLst>
          </p:cNvPr>
          <p:cNvSpPr txBox="1"/>
          <p:nvPr/>
        </p:nvSpPr>
        <p:spPr>
          <a:xfrm>
            <a:off x="508000" y="5791200"/>
            <a:ext cx="7747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>
                <a:solidFill>
                  <a:srgbClr val="38B6FF"/>
                </a:solidFill>
                <a:latin typeface="Segoe UI Semibold" panose="020B0702040204020203" pitchFamily="34" charset="0"/>
              </a:rPr>
              <a:t>7</a:t>
            </a:r>
            <a:r>
              <a:rPr lang="en-US" sz="1900">
                <a:solidFill>
                  <a:srgbClr val="FFFFFF"/>
                </a:solidFill>
                <a:latin typeface="Segoe UI Semibold" panose="020B0702040204020203" pitchFamily="34" charset="0"/>
              </a:rPr>
              <a:t>  Humans authorize</a:t>
            </a:r>
          </a:p>
        </p:txBody>
      </p:sp>
      <p:sp>
        <p:nvSpPr>
          <p:cNvPr id="7" name="caption_line">
            <a:extLst>
              <a:ext uri="{FF2B5EF4-FFF2-40B4-BE49-F238E27FC236}">
                <a16:creationId xmlns:a16="http://schemas.microsoft.com/office/drawing/2014/main" id="{B1553743-96FE-3377-AF83-977C53B948A9}"/>
              </a:ext>
            </a:extLst>
          </p:cNvPr>
          <p:cNvSpPr txBox="1"/>
          <p:nvPr/>
        </p:nvSpPr>
        <p:spPr>
          <a:xfrm>
            <a:off x="508000" y="6121400"/>
            <a:ext cx="7747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50">
                <a:solidFill>
                  <a:srgbClr val="C8D6E5"/>
                </a:solidFill>
                <a:latin typeface="Segoe UI" panose="020B0502040204020203" pitchFamily="34" charset="0"/>
              </a:rPr>
              <a:t>Contact customer, kill switch, verified release. All audited.</a:t>
            </a:r>
          </a:p>
        </p:txBody>
      </p:sp>
      <p:sp>
        <p:nvSpPr>
          <p:cNvPr id="8" name="synthetic_tag">
            <a:extLst>
              <a:ext uri="{FF2B5EF4-FFF2-40B4-BE49-F238E27FC236}">
                <a16:creationId xmlns:a16="http://schemas.microsoft.com/office/drawing/2014/main" id="{8CCEFF5F-7942-7399-F36B-6B89EA298B68}"/>
              </a:ext>
            </a:extLst>
          </p:cNvPr>
          <p:cNvSpPr/>
          <p:nvPr/>
        </p:nvSpPr>
        <p:spPr>
          <a:xfrm>
            <a:off x="10312400" y="203200"/>
            <a:ext cx="1676400" cy="304800"/>
          </a:xfrm>
          <a:prstGeom prst="roundRect">
            <a:avLst/>
          </a:prstGeom>
          <a:solidFill>
            <a:srgbClr val="070F1A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rgbClr val="BFE9FF"/>
                </a:solidFill>
                <a:latin typeface="Segoe UI Semibold" panose="020B0702040204020203" pitchFamily="34" charset="0"/>
              </a:rPr>
              <a:t>SYNTHETIC DATA · DEMO</a:t>
            </a:r>
          </a:p>
        </p:txBody>
      </p:sp>
    </p:spTree>
    <p:extLst>
      <p:ext uri="{BB962C8B-B14F-4D97-AF65-F5344CB8AC3E}">
        <p14:creationId xmlns:p14="http://schemas.microsoft.com/office/powerpoint/2010/main" val="17056064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 advClick="0" advTm="12310">
        <p159:morph option="byObject"/>
      </p:transition>
    </mc:Choice>
    <mc:Fallback>
      <p:transition spd="slow" advClick="0" advTm="1231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rame">
            <a:extLst>
              <a:ext uri="{FF2B5EF4-FFF2-40B4-BE49-F238E27FC236}">
                <a16:creationId xmlns:a16="http://schemas.microsoft.com/office/drawing/2014/main" id="{67BA2ACE-6381-566F-6F62-FF1BF70C081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aption_bar">
            <a:extLst>
              <a:ext uri="{FF2B5EF4-FFF2-40B4-BE49-F238E27FC236}">
                <a16:creationId xmlns:a16="http://schemas.microsoft.com/office/drawing/2014/main" id="{D5EBE79B-C7DA-9D09-C3C7-464ACCD07774}"/>
              </a:ext>
            </a:extLst>
          </p:cNvPr>
          <p:cNvSpPr/>
          <p:nvPr/>
        </p:nvSpPr>
        <p:spPr>
          <a:xfrm>
            <a:off x="304800" y="5740400"/>
            <a:ext cx="8128000" cy="838200"/>
          </a:xfrm>
          <a:prstGeom prst="roundRect">
            <a:avLst>
              <a:gd name="adj" fmla="val 18000"/>
            </a:avLst>
          </a:prstGeom>
          <a:solidFill>
            <a:srgbClr val="070F1A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ption_accent">
            <a:extLst>
              <a:ext uri="{FF2B5EF4-FFF2-40B4-BE49-F238E27FC236}">
                <a16:creationId xmlns:a16="http://schemas.microsoft.com/office/drawing/2014/main" id="{EFB1BD1A-3890-7525-E6C1-F91325C84997}"/>
              </a:ext>
            </a:extLst>
          </p:cNvPr>
          <p:cNvSpPr/>
          <p:nvPr/>
        </p:nvSpPr>
        <p:spPr>
          <a:xfrm>
            <a:off x="304800" y="5740400"/>
            <a:ext cx="63500" cy="838200"/>
          </a:xfrm>
          <a:prstGeom prst="rect">
            <a:avLst/>
          </a:prstGeom>
          <a:solidFill>
            <a:srgbClr val="38B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ption_title">
            <a:extLst>
              <a:ext uri="{FF2B5EF4-FFF2-40B4-BE49-F238E27FC236}">
                <a16:creationId xmlns:a16="http://schemas.microsoft.com/office/drawing/2014/main" id="{EEE99EF5-186D-94EA-D820-8073CD23C2FD}"/>
              </a:ext>
            </a:extLst>
          </p:cNvPr>
          <p:cNvSpPr txBox="1"/>
          <p:nvPr/>
        </p:nvSpPr>
        <p:spPr>
          <a:xfrm>
            <a:off x="508000" y="5791200"/>
            <a:ext cx="7747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>
                <a:solidFill>
                  <a:srgbClr val="38B6FF"/>
                </a:solidFill>
                <a:latin typeface="Segoe UI Semibold" panose="020B0702040204020203" pitchFamily="34" charset="0"/>
              </a:rPr>
              <a:t>8</a:t>
            </a:r>
            <a:r>
              <a:rPr lang="en-US" sz="1900">
                <a:solidFill>
                  <a:srgbClr val="FFFFFF"/>
                </a:solidFill>
                <a:latin typeface="Segoe UI Semibold" panose="020B0702040204020203" pitchFamily="34" charset="0"/>
              </a:rPr>
              <a:t>  One-click case report</a:t>
            </a:r>
          </a:p>
        </p:txBody>
      </p:sp>
      <p:sp>
        <p:nvSpPr>
          <p:cNvPr id="7" name="caption_line">
            <a:extLst>
              <a:ext uri="{FF2B5EF4-FFF2-40B4-BE49-F238E27FC236}">
                <a16:creationId xmlns:a16="http://schemas.microsoft.com/office/drawing/2014/main" id="{0F4054CD-EDFF-0777-06DC-3E06F873F342}"/>
              </a:ext>
            </a:extLst>
          </p:cNvPr>
          <p:cNvSpPr txBox="1"/>
          <p:nvPr/>
        </p:nvSpPr>
        <p:spPr>
          <a:xfrm>
            <a:off x="508000" y="6121400"/>
            <a:ext cx="7747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50">
                <a:solidFill>
                  <a:srgbClr val="C8D6E5"/>
                </a:solidFill>
                <a:latin typeface="Segoe UI" panose="020B0502040204020203" pitchFamily="34" charset="0"/>
              </a:rPr>
              <a:t>Generated from recorded facts. Edited, signed off, exported as PDF</a:t>
            </a:r>
          </a:p>
        </p:txBody>
      </p:sp>
      <p:sp>
        <p:nvSpPr>
          <p:cNvPr id="8" name="synthetic_tag">
            <a:extLst>
              <a:ext uri="{FF2B5EF4-FFF2-40B4-BE49-F238E27FC236}">
                <a16:creationId xmlns:a16="http://schemas.microsoft.com/office/drawing/2014/main" id="{E097671D-E12D-99BB-17B2-A2871C27E421}"/>
              </a:ext>
            </a:extLst>
          </p:cNvPr>
          <p:cNvSpPr/>
          <p:nvPr/>
        </p:nvSpPr>
        <p:spPr>
          <a:xfrm>
            <a:off x="10312400" y="203200"/>
            <a:ext cx="1676400" cy="304800"/>
          </a:xfrm>
          <a:prstGeom prst="roundRect">
            <a:avLst/>
          </a:prstGeom>
          <a:solidFill>
            <a:srgbClr val="070F1A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rgbClr val="BFE9FF"/>
                </a:solidFill>
                <a:latin typeface="Segoe UI Semibold" panose="020B0702040204020203" pitchFamily="34" charset="0"/>
              </a:rPr>
              <a:t>SYNTHETIC DATA · DEMO</a:t>
            </a:r>
          </a:p>
        </p:txBody>
      </p:sp>
      <p:pic>
        <p:nvPicPr>
          <p:cNvPr id="9" name="narration">
            <a:hlinkClick r:id="" action="ppaction://media"/>
            <a:extLst>
              <a:ext uri="{FF2B5EF4-FFF2-40B4-BE49-F238E27FC236}">
                <a16:creationId xmlns:a16="http://schemas.microsoft.com/office/drawing/2014/main" id="{3E974B59-F447-167D-13CE-357612126FD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5" y="31845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7812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 advClick="0" advTm="7570">
        <p:fade/>
      </p:transition>
    </mc:Choice>
    <mc:Fallback>
      <p:transition spd="med" advClick="0" advTm="757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016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numSld="2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rame">
            <a:extLst>
              <a:ext uri="{FF2B5EF4-FFF2-40B4-BE49-F238E27FC236}">
                <a16:creationId xmlns:a16="http://schemas.microsoft.com/office/drawing/2014/main" id="{67BA2ACE-6381-566F-6F62-FF1BF70C081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12900" y="-901700"/>
            <a:ext cx="13805095" cy="7765366"/>
          </a:xfrm>
          <a:prstGeom prst="rect">
            <a:avLst/>
          </a:prstGeom>
        </p:spPr>
      </p:pic>
      <p:sp>
        <p:nvSpPr>
          <p:cNvPr id="4" name="caption_bar">
            <a:extLst>
              <a:ext uri="{FF2B5EF4-FFF2-40B4-BE49-F238E27FC236}">
                <a16:creationId xmlns:a16="http://schemas.microsoft.com/office/drawing/2014/main" id="{D5EBE79B-C7DA-9D09-C3C7-464ACCD07774}"/>
              </a:ext>
            </a:extLst>
          </p:cNvPr>
          <p:cNvSpPr/>
          <p:nvPr/>
        </p:nvSpPr>
        <p:spPr>
          <a:xfrm>
            <a:off x="304800" y="5740400"/>
            <a:ext cx="8128000" cy="838200"/>
          </a:xfrm>
          <a:prstGeom prst="roundRect">
            <a:avLst>
              <a:gd name="adj" fmla="val 18000"/>
            </a:avLst>
          </a:prstGeom>
          <a:solidFill>
            <a:srgbClr val="070F1A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ption_accent">
            <a:extLst>
              <a:ext uri="{FF2B5EF4-FFF2-40B4-BE49-F238E27FC236}">
                <a16:creationId xmlns:a16="http://schemas.microsoft.com/office/drawing/2014/main" id="{EFB1BD1A-3890-7525-E6C1-F91325C84997}"/>
              </a:ext>
            </a:extLst>
          </p:cNvPr>
          <p:cNvSpPr/>
          <p:nvPr/>
        </p:nvSpPr>
        <p:spPr>
          <a:xfrm>
            <a:off x="304800" y="5740400"/>
            <a:ext cx="63500" cy="838200"/>
          </a:xfrm>
          <a:prstGeom prst="rect">
            <a:avLst/>
          </a:prstGeom>
          <a:solidFill>
            <a:srgbClr val="38B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ption_title">
            <a:extLst>
              <a:ext uri="{FF2B5EF4-FFF2-40B4-BE49-F238E27FC236}">
                <a16:creationId xmlns:a16="http://schemas.microsoft.com/office/drawing/2014/main" id="{EEE99EF5-186D-94EA-D820-8073CD23C2FD}"/>
              </a:ext>
            </a:extLst>
          </p:cNvPr>
          <p:cNvSpPr txBox="1"/>
          <p:nvPr/>
        </p:nvSpPr>
        <p:spPr>
          <a:xfrm>
            <a:off x="508000" y="5791200"/>
            <a:ext cx="7747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>
                <a:solidFill>
                  <a:srgbClr val="38B6FF"/>
                </a:solidFill>
                <a:latin typeface="Segoe UI Semibold" panose="020B0702040204020203" pitchFamily="34" charset="0"/>
              </a:rPr>
              <a:t>8</a:t>
            </a:r>
            <a:r>
              <a:rPr lang="en-US" sz="1900">
                <a:solidFill>
                  <a:srgbClr val="FFFFFF"/>
                </a:solidFill>
                <a:latin typeface="Segoe UI Semibold" panose="020B0702040204020203" pitchFamily="34" charset="0"/>
              </a:rPr>
              <a:t>  One-click case report</a:t>
            </a:r>
          </a:p>
        </p:txBody>
      </p:sp>
      <p:sp>
        <p:nvSpPr>
          <p:cNvPr id="7" name="caption_line">
            <a:extLst>
              <a:ext uri="{FF2B5EF4-FFF2-40B4-BE49-F238E27FC236}">
                <a16:creationId xmlns:a16="http://schemas.microsoft.com/office/drawing/2014/main" id="{0F4054CD-EDFF-0777-06DC-3E06F873F342}"/>
              </a:ext>
            </a:extLst>
          </p:cNvPr>
          <p:cNvSpPr txBox="1"/>
          <p:nvPr/>
        </p:nvSpPr>
        <p:spPr>
          <a:xfrm>
            <a:off x="508000" y="6121400"/>
            <a:ext cx="7747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50">
                <a:solidFill>
                  <a:srgbClr val="C8D6E5"/>
                </a:solidFill>
                <a:latin typeface="Segoe UI" panose="020B0502040204020203" pitchFamily="34" charset="0"/>
              </a:rPr>
              <a:t>Generated from recorded facts. Edited, signed off, exported as PDF</a:t>
            </a:r>
          </a:p>
        </p:txBody>
      </p:sp>
      <p:sp>
        <p:nvSpPr>
          <p:cNvPr id="8" name="synthetic_tag">
            <a:extLst>
              <a:ext uri="{FF2B5EF4-FFF2-40B4-BE49-F238E27FC236}">
                <a16:creationId xmlns:a16="http://schemas.microsoft.com/office/drawing/2014/main" id="{E097671D-E12D-99BB-17B2-A2871C27E421}"/>
              </a:ext>
            </a:extLst>
          </p:cNvPr>
          <p:cNvSpPr/>
          <p:nvPr/>
        </p:nvSpPr>
        <p:spPr>
          <a:xfrm>
            <a:off x="10312400" y="203200"/>
            <a:ext cx="1676400" cy="304800"/>
          </a:xfrm>
          <a:prstGeom prst="roundRect">
            <a:avLst/>
          </a:prstGeom>
          <a:solidFill>
            <a:srgbClr val="070F1A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rgbClr val="BFE9FF"/>
                </a:solidFill>
                <a:latin typeface="Segoe UI Semibold" panose="020B0702040204020203" pitchFamily="34" charset="0"/>
              </a:rPr>
              <a:t>SYNTHETIC DATA · DEMO</a:t>
            </a:r>
          </a:p>
        </p:txBody>
      </p:sp>
    </p:spTree>
    <p:extLst>
      <p:ext uri="{BB962C8B-B14F-4D97-AF65-F5344CB8AC3E}">
        <p14:creationId xmlns:p14="http://schemas.microsoft.com/office/powerpoint/2010/main" val="8501268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 advClick="0" advTm="10450">
        <p159:morph option="byObject"/>
      </p:transition>
    </mc:Choice>
    <mc:Fallback>
      <p:transition spd="slow" advClick="0" advTm="1045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rame">
            <a:extLst>
              <a:ext uri="{FF2B5EF4-FFF2-40B4-BE49-F238E27FC236}">
                <a16:creationId xmlns:a16="http://schemas.microsoft.com/office/drawing/2014/main" id="{60082E93-4A14-C858-10E5-1D872C702CE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aption_bar">
            <a:extLst>
              <a:ext uri="{FF2B5EF4-FFF2-40B4-BE49-F238E27FC236}">
                <a16:creationId xmlns:a16="http://schemas.microsoft.com/office/drawing/2014/main" id="{B3A94071-1AB4-2C26-ED6C-7B33C9AAA72D}"/>
              </a:ext>
            </a:extLst>
          </p:cNvPr>
          <p:cNvSpPr/>
          <p:nvPr/>
        </p:nvSpPr>
        <p:spPr>
          <a:xfrm>
            <a:off x="304800" y="5740400"/>
            <a:ext cx="8128000" cy="838200"/>
          </a:xfrm>
          <a:prstGeom prst="roundRect">
            <a:avLst>
              <a:gd name="adj" fmla="val 18000"/>
            </a:avLst>
          </a:prstGeom>
          <a:solidFill>
            <a:srgbClr val="070F1A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ption_accent">
            <a:extLst>
              <a:ext uri="{FF2B5EF4-FFF2-40B4-BE49-F238E27FC236}">
                <a16:creationId xmlns:a16="http://schemas.microsoft.com/office/drawing/2014/main" id="{898880CA-FC9B-749C-7D72-0683BB0DEDAD}"/>
              </a:ext>
            </a:extLst>
          </p:cNvPr>
          <p:cNvSpPr/>
          <p:nvPr/>
        </p:nvSpPr>
        <p:spPr>
          <a:xfrm>
            <a:off x="304800" y="5740400"/>
            <a:ext cx="63500" cy="838200"/>
          </a:xfrm>
          <a:prstGeom prst="rect">
            <a:avLst/>
          </a:prstGeom>
          <a:solidFill>
            <a:srgbClr val="38B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ption_title">
            <a:extLst>
              <a:ext uri="{FF2B5EF4-FFF2-40B4-BE49-F238E27FC236}">
                <a16:creationId xmlns:a16="http://schemas.microsoft.com/office/drawing/2014/main" id="{C0901931-8EA8-D901-4ECD-02642FC35D1B}"/>
              </a:ext>
            </a:extLst>
          </p:cNvPr>
          <p:cNvSpPr txBox="1"/>
          <p:nvPr/>
        </p:nvSpPr>
        <p:spPr>
          <a:xfrm>
            <a:off x="508000" y="5791200"/>
            <a:ext cx="7747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>
                <a:solidFill>
                  <a:srgbClr val="38B6FF"/>
                </a:solidFill>
                <a:latin typeface="Segoe UI Semibold" panose="020B0702040204020203" pitchFamily="34" charset="0"/>
              </a:rPr>
              <a:t>9</a:t>
            </a:r>
            <a:r>
              <a:rPr lang="en-US" sz="1900">
                <a:solidFill>
                  <a:srgbClr val="FFFFFF"/>
                </a:solidFill>
                <a:latin typeface="Segoe UI Semibold" panose="020B0702040204020203" pitchFamily="34" charset="0"/>
              </a:rPr>
              <a:t>  Bank lens and audit</a:t>
            </a:r>
          </a:p>
        </p:txBody>
      </p:sp>
      <p:sp>
        <p:nvSpPr>
          <p:cNvPr id="7" name="caption_line">
            <a:extLst>
              <a:ext uri="{FF2B5EF4-FFF2-40B4-BE49-F238E27FC236}">
                <a16:creationId xmlns:a16="http://schemas.microsoft.com/office/drawing/2014/main" id="{F71DF393-84BD-64DB-F109-ACF1136F9F91}"/>
              </a:ext>
            </a:extLst>
          </p:cNvPr>
          <p:cNvSpPr txBox="1"/>
          <p:nvPr/>
        </p:nvSpPr>
        <p:spPr>
          <a:xfrm>
            <a:off x="508000" y="6121400"/>
            <a:ext cx="7747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50">
                <a:solidFill>
                  <a:srgbClr val="C8D6E5"/>
                </a:solidFill>
                <a:latin typeface="Segoe UI" panose="020B0502040204020203" pitchFamily="34" charset="0"/>
              </a:rPr>
              <a:t>Designed as a multi-tenant platform; demonstrated as a single deployment on synthetic data.</a:t>
            </a:r>
          </a:p>
        </p:txBody>
      </p:sp>
      <p:sp>
        <p:nvSpPr>
          <p:cNvPr id="8" name="synthetic_tag">
            <a:extLst>
              <a:ext uri="{FF2B5EF4-FFF2-40B4-BE49-F238E27FC236}">
                <a16:creationId xmlns:a16="http://schemas.microsoft.com/office/drawing/2014/main" id="{EE9ED6CF-9526-96F0-D662-361DC550C69E}"/>
              </a:ext>
            </a:extLst>
          </p:cNvPr>
          <p:cNvSpPr/>
          <p:nvPr/>
        </p:nvSpPr>
        <p:spPr>
          <a:xfrm>
            <a:off x="10312400" y="203200"/>
            <a:ext cx="1676400" cy="304800"/>
          </a:xfrm>
          <a:prstGeom prst="roundRect">
            <a:avLst/>
          </a:prstGeom>
          <a:solidFill>
            <a:srgbClr val="070F1A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rgbClr val="BFE9FF"/>
                </a:solidFill>
                <a:latin typeface="Segoe UI Semibold" panose="020B0702040204020203" pitchFamily="34" charset="0"/>
              </a:rPr>
              <a:t>SYNTHETIC DATA · DEMO</a:t>
            </a:r>
          </a:p>
        </p:txBody>
      </p:sp>
      <p:pic>
        <p:nvPicPr>
          <p:cNvPr id="9" name="narration">
            <a:hlinkClick r:id="" action="ppaction://media"/>
            <a:extLst>
              <a:ext uri="{FF2B5EF4-FFF2-40B4-BE49-F238E27FC236}">
                <a16:creationId xmlns:a16="http://schemas.microsoft.com/office/drawing/2014/main" id="{12029B70-00F6-A59E-3E23-514B35C8557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5" y="31845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553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 advClick="0" advTm="6530">
        <p:fade/>
      </p:transition>
    </mc:Choice>
    <mc:Fallback>
      <p:transition spd="med" advClick="0" advTm="653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55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numSld="2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frame2">
            <a:extLst>
              <a:ext uri="{FF2B5EF4-FFF2-40B4-BE49-F238E27FC236}">
                <a16:creationId xmlns:a16="http://schemas.microsoft.com/office/drawing/2014/main" id="{3E41043B-2F0A-8103-C26D-12DEDC43B31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630400" y="0"/>
            <a:ext cx="26822400" cy="15087600"/>
          </a:xfrm>
          <a:prstGeom prst="rect">
            <a:avLst/>
          </a:prstGeom>
        </p:spPr>
      </p:pic>
      <p:sp>
        <p:nvSpPr>
          <p:cNvPr id="4" name="caption_bar">
            <a:extLst>
              <a:ext uri="{FF2B5EF4-FFF2-40B4-BE49-F238E27FC236}">
                <a16:creationId xmlns:a16="http://schemas.microsoft.com/office/drawing/2014/main" id="{B3A94071-1AB4-2C26-ED6C-7B33C9AAA72D}"/>
              </a:ext>
            </a:extLst>
          </p:cNvPr>
          <p:cNvSpPr/>
          <p:nvPr/>
        </p:nvSpPr>
        <p:spPr>
          <a:xfrm>
            <a:off x="304800" y="5740400"/>
            <a:ext cx="8128000" cy="838200"/>
          </a:xfrm>
          <a:prstGeom prst="roundRect">
            <a:avLst>
              <a:gd name="adj" fmla="val 18000"/>
            </a:avLst>
          </a:prstGeom>
          <a:solidFill>
            <a:srgbClr val="070F1A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ption_accent">
            <a:extLst>
              <a:ext uri="{FF2B5EF4-FFF2-40B4-BE49-F238E27FC236}">
                <a16:creationId xmlns:a16="http://schemas.microsoft.com/office/drawing/2014/main" id="{898880CA-FC9B-749C-7D72-0683BB0DEDAD}"/>
              </a:ext>
            </a:extLst>
          </p:cNvPr>
          <p:cNvSpPr/>
          <p:nvPr/>
        </p:nvSpPr>
        <p:spPr>
          <a:xfrm>
            <a:off x="304800" y="5740400"/>
            <a:ext cx="63500" cy="838200"/>
          </a:xfrm>
          <a:prstGeom prst="rect">
            <a:avLst/>
          </a:prstGeom>
          <a:solidFill>
            <a:srgbClr val="38B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ption_title">
            <a:extLst>
              <a:ext uri="{FF2B5EF4-FFF2-40B4-BE49-F238E27FC236}">
                <a16:creationId xmlns:a16="http://schemas.microsoft.com/office/drawing/2014/main" id="{C0901931-8EA8-D901-4ECD-02642FC35D1B}"/>
              </a:ext>
            </a:extLst>
          </p:cNvPr>
          <p:cNvSpPr txBox="1"/>
          <p:nvPr/>
        </p:nvSpPr>
        <p:spPr>
          <a:xfrm>
            <a:off x="508000" y="5791200"/>
            <a:ext cx="7747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>
                <a:solidFill>
                  <a:srgbClr val="38B6FF"/>
                </a:solidFill>
                <a:latin typeface="Segoe UI Semibold" panose="020B0702040204020203" pitchFamily="34" charset="0"/>
              </a:rPr>
              <a:t>9</a:t>
            </a:r>
            <a:r>
              <a:rPr lang="en-US" sz="1900">
                <a:solidFill>
                  <a:srgbClr val="FFFFFF"/>
                </a:solidFill>
                <a:latin typeface="Segoe UI Semibold" panose="020B0702040204020203" pitchFamily="34" charset="0"/>
              </a:rPr>
              <a:t>  Bank lens and audit</a:t>
            </a:r>
          </a:p>
        </p:txBody>
      </p:sp>
      <p:sp>
        <p:nvSpPr>
          <p:cNvPr id="7" name="caption_line">
            <a:extLst>
              <a:ext uri="{FF2B5EF4-FFF2-40B4-BE49-F238E27FC236}">
                <a16:creationId xmlns:a16="http://schemas.microsoft.com/office/drawing/2014/main" id="{F71DF393-84BD-64DB-F109-ACF1136F9F91}"/>
              </a:ext>
            </a:extLst>
          </p:cNvPr>
          <p:cNvSpPr txBox="1"/>
          <p:nvPr/>
        </p:nvSpPr>
        <p:spPr>
          <a:xfrm>
            <a:off x="508000" y="6121400"/>
            <a:ext cx="7747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50">
                <a:solidFill>
                  <a:srgbClr val="C8D6E5"/>
                </a:solidFill>
                <a:latin typeface="Segoe UI" panose="020B0502040204020203" pitchFamily="34" charset="0"/>
              </a:rPr>
              <a:t>Designed as a multi-tenant platform; demonstrated as a single deployment on synthetic data.</a:t>
            </a:r>
          </a:p>
        </p:txBody>
      </p:sp>
    </p:spTree>
    <p:extLst>
      <p:ext uri="{BB962C8B-B14F-4D97-AF65-F5344CB8AC3E}">
        <p14:creationId xmlns:p14="http://schemas.microsoft.com/office/powerpoint/2010/main" val="24982011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9020">
        <p:fade/>
      </p:transition>
    </mc:Choice>
    <mc:Fallback>
      <p:transition spd="slow" advClick="0" advTm="902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rame">
            <a:extLst>
              <a:ext uri="{FF2B5EF4-FFF2-40B4-BE49-F238E27FC236}">
                <a16:creationId xmlns:a16="http://schemas.microsoft.com/office/drawing/2014/main" id="{D4F0CA4E-5975-BA9A-549F-953ACDC8FD5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narration">
            <a:hlinkClick r:id="" action="ppaction://media"/>
            <a:extLst>
              <a:ext uri="{FF2B5EF4-FFF2-40B4-BE49-F238E27FC236}">
                <a16:creationId xmlns:a16="http://schemas.microsoft.com/office/drawing/2014/main" id="{FBF01D5B-1DCC-3835-F4CC-83F4D219A1D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5" y="31845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963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 advClick="0" advTm="19257">
        <p:fade/>
      </p:transition>
    </mc:Choice>
    <mc:Fallback>
      <p:transition spd="med" advClick="0" advTm="1925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25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</Words>
  <Application>Microsoft Office PowerPoint</Application>
  <PresentationFormat>Custom</PresentationFormat>
  <Paragraphs>47</Paragraphs>
  <Slides>18</Slides>
  <Notes>0</Notes>
  <HiddenSlides>0</HiddenSlides>
  <MMClips>11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Ilyas Basheer Ahamed</dc:creator>
  <cp:lastModifiedBy>Mohammed Ilyas Basheer Ahamed</cp:lastModifiedBy>
  <cp:revision>1</cp:revision>
  <dcterms:created xsi:type="dcterms:W3CDTF">2026-10-18T23:29:12Z</dcterms:created>
  <dcterms:modified xsi:type="dcterms:W3CDTF">2026-10-18T23:29:14Z</dcterms:modified>
</cp:coreProperties>
</file>