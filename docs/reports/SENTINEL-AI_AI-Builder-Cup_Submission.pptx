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charts/chart1.xml" ContentType="application/vnd.openxmlformats-officedocument.drawingml.chart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7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Submission" id="{462E4BA0-16AC-CD08-BAC9-92820911C7CB}">
          <p14:sldIdLst>
            <p14:sldId id="256"/>
            <p14:sldId id="257"/>
            <p14:sldId id="258"/>
            <p14:sldId id="259"/>
            <p14:sldId id="260"/>
            <p14:sldId id="261"/>
            <p14:sldId id="262"/>
            <p14:sldId id="263"/>
            <p14:sldId id="264"/>
            <p14:sldId id="265"/>
            <p14:sldId id="266"/>
            <p14:sldId id="267"/>
            <p14:sldId id="268"/>
            <p14:sldId id="269"/>
            <p14:sldId id="270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100" b="0" i="0" u="none" strike="noStrike">
                <a:solidFill>
                  <a:srgbClr val="202124"/>
                </a:solidFill>
                <a:latin typeface="+mn-lt"/>
              </a:defRPr>
            </a:pPr>
            <a:r>
              <a:rPr sz="1100" b="0" i="0" u="none" strike="noStrike">
                <a:solidFill>
                  <a:srgbClr val="202124"/>
                </a:solidFill>
                <a:latin typeface="+mn-lt"/>
              </a:rPr>
              <a:t>Tests passed by workspace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Tests passed</c:v>
                </c:pt>
              </c:strCache>
            </c:strRef>
          </c:tx>
          <c:spPr>
            <a:solidFill>
              <a:srgbClr val="4285F4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900" b="0" i="0" u="none" strike="noStrike">
                    <a:solidFill>
                      <a:srgbClr val="202124"/>
                    </a:solidFill>
                    <a:latin typeface="+mn-lt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Sheet1!$A$2:$A$8</c:f>
              <c:strCache>
                <c:ptCount val="7"/>
                <c:pt idx="0">
                  <c:v>domain</c:v>
                </c:pt>
                <c:pt idx="1">
                  <c:v>rules</c:v>
                </c:pt>
                <c:pt idx="2">
                  <c:v>scenarios</c:v>
                </c:pt>
                <c:pt idx="3">
                  <c:v>core</c:v>
                </c:pt>
                <c:pt idx="4">
                  <c:v>stream</c:v>
                </c:pt>
                <c:pt idx="5">
                  <c:v>simulator</c:v>
                </c:pt>
                <c:pt idx="6">
                  <c:v>ui</c:v>
                </c:pt>
              </c:strCache>
            </c: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10</c:v>
                </c:pt>
                <c:pt idx="1">
                  <c:v>62</c:v>
                </c:pt>
                <c:pt idx="2">
                  <c:v>21</c:v>
                </c:pt>
                <c:pt idx="3">
                  <c:v>175</c:v>
                </c:pt>
                <c:pt idx="4">
                  <c:v>10</c:v>
                </c:pt>
                <c:pt idx="5">
                  <c:v>8</c:v>
                </c:pt>
                <c:pt idx="6">
                  <c:v>119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9314-40D8-BC36-0E546733C2BC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5F6368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0E0E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5F6368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45420531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Team SENTINEL AI. Leader: Mohammed Ilyas. All data in the project is synthetic.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No language model sits in the path of a financial decision. All data is synthetic.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work/img-00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08406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5052060"/>
            <a:ext cx="9144000" cy="91440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4" name="Text 1"/>
          <p:cNvSpPr>
            <a:spLocks noGrp="1"/>
          </p:cNvSpPr>
          <p:nvPr>
            <p:ph type="title" idx="102" hasCustomPrompt="1"/>
          </p:nvPr>
        </p:nvSpPr>
        <p:spPr>
          <a:xfrm>
            <a:off x="365760" y="621792"/>
            <a:ext cx="8412480" cy="45720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22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defRPr>
            </a:lvl1pPr>
          </a:lstStyle>
          <a:p>
            <a:pPr marL="0" indent="0" algn="l">
              <a:buNone/>
            </a:pPr>
            <a:endParaRPr lang="en-US" sz="22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_SLIDE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work/img-00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2715768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5052060"/>
            <a:ext cx="9144000" cy="91440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LOSING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png"/><Relationship Id="rId3" Type="http://schemas.openxmlformats.org/officeDocument/2006/relationships/image" Target="../media/image6.png"/><Relationship Id="rId7" Type="http://schemas.openxmlformats.org/officeDocument/2006/relationships/image" Target="../media/image10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.png"/><Relationship Id="rId3" Type="http://schemas.openxmlformats.org/officeDocument/2006/relationships/image" Target="../media/image12.png"/><Relationship Id="rId7" Type="http://schemas.openxmlformats.org/officeDocument/2006/relationships/image" Target="../media/image16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5.png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Mohammed-Ilyas-AI/Sential-AI" TargetMode="External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sentinal-ai.cloud.run/" TargetMode="Externa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365760" y="2852928"/>
            <a:ext cx="8412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2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Team Details</a:t>
            </a:r>
            <a:endParaRPr lang="en-US" sz="2200" dirty="0"/>
          </a:p>
        </p:txBody>
      </p:sp>
      <p:sp>
        <p:nvSpPr>
          <p:cNvPr id="3" name="Text 1"/>
          <p:cNvSpPr txBox="1"/>
          <p:nvPr/>
        </p:nvSpPr>
        <p:spPr>
          <a:xfrm>
            <a:off x="731520" y="3310128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a.  Team name</a:t>
            </a:r>
            <a:r>
              <a:rPr lang="en-US" sz="140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: </a:t>
            </a:r>
            <a:r>
              <a:rPr lang="en-US" sz="1400" b="1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ZEUS SHIELD</a:t>
            </a:r>
            <a:r>
              <a:rPr lang="en-US" sz="140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(project: SENTINEL AI)</a:t>
            </a:r>
            <a:endParaRPr lang="en-US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731520" y="3602736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b.  Team leader name: </a:t>
            </a:r>
            <a:r>
              <a:rPr lang="en-US" sz="14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Mohammed Ilyas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731520" y="3904488"/>
            <a:ext cx="80467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c.  Problem Statement: Scammers can drain a customer's savings in minutes, before a bank can react. Singapore's rapid account-draining safeguard calls for a hold before settlement, but fraud teams need a transparent, auditable way to enforce it, explain it and act on it in real time. SENTINEL AI is that control tower: rules decide, AI explains, humans authorize.</a:t>
            </a:r>
            <a:endParaRPr lang="en-US" sz="12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>
            <a:spLocks noGrp="1"/>
          </p:cNvSpPr>
          <p:nvPr>
            <p:ph type="title" idx="102" hasCustomPrompt="1"/>
          </p:nvPr>
        </p:nvSpPr>
        <p:spPr>
          <a:xfrm>
            <a:off x="365760" y="621792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Brief about the idea</a:t>
            </a:r>
            <a:endParaRPr lang="en-US" sz="2200" dirty="0"/>
          </a:p>
        </p:txBody>
      </p:sp>
      <p:sp>
        <p:nvSpPr>
          <p:cNvPr id="3" name="Text 1"/>
          <p:cNvSpPr txBox="1"/>
          <p:nvPr/>
        </p:nvSpPr>
        <p:spPr>
          <a:xfrm>
            <a:off x="365760" y="1188720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chemeClr val="accent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Detect. Explain. Intervene. Investigate.</a:t>
            </a:r>
            <a:endParaRPr lang="en-US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365760" y="1645920"/>
            <a:ext cx="493776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50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SENTINEL AI is a real-time fraud operations control tower for retail banking. It turns Singapore's rapid account-draining safeguard into a deterministic policy gate.</a:t>
            </a:r>
            <a:endParaRPr lang="en-US" sz="1350" dirty="0"/>
          </a:p>
          <a:p>
            <a:pPr marL="0" indent="0">
              <a:buNone/>
            </a:pPr>
            <a:r>
              <a:rPr lang="en-US" sz="600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endParaRPr lang="en-US" sz="1350" dirty="0"/>
          </a:p>
          <a:p>
            <a:pPr marL="0" indent="0">
              <a:buNone/>
            </a:pPr>
            <a:r>
              <a:rPr lang="en-US" sz="1350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 a personal account with a protected balance of S$50,000, a transfer that, with the previous 24 hours of outflows, moves more than 50% of the balance is held before it settles.</a:t>
            </a:r>
            <a:endParaRPr lang="en-US" sz="1350" dirty="0"/>
          </a:p>
          <a:p>
            <a:pPr marL="0" indent="0">
              <a:buNone/>
            </a:pPr>
            <a:r>
              <a:rPr lang="en-US" sz="600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endParaRPr lang="en-US" sz="1350" dirty="0"/>
          </a:p>
          <a:p>
            <a:pPr marL="0" indent="0">
              <a:buNone/>
            </a:pPr>
            <a:r>
              <a:rPr lang="en-US" sz="1350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pre-transaction decision API returns ALLOW, HOLD or REJECT with an itemised risk breakdown. Bank operators review each hold in a live Control Tower, Alerts &amp; Cases and an investigation workspace.</a:t>
            </a:r>
            <a:endParaRPr lang="en-US" sz="1350" dirty="0"/>
          </a:p>
        </p:txBody>
      </p:sp>
      <p:sp>
        <p:nvSpPr>
          <p:cNvPr id="5" name="principle_card"/>
          <p:cNvSpPr/>
          <p:nvPr/>
        </p:nvSpPr>
        <p:spPr>
          <a:xfrm>
            <a:off x="5669280" y="1188720"/>
            <a:ext cx="3108960" cy="3520440"/>
          </a:xfrm>
          <a:prstGeom prst="roundRect">
            <a:avLst>
              <a:gd name="adj" fmla="val 3529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5897880" y="135331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chemeClr val="accent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operating principle</a:t>
            </a:r>
            <a:endParaRPr lang="en-US" sz="1200" dirty="0"/>
          </a:p>
        </p:txBody>
      </p:sp>
      <p:sp>
        <p:nvSpPr>
          <p:cNvPr id="7" name="dot0"/>
          <p:cNvSpPr/>
          <p:nvPr/>
        </p:nvSpPr>
        <p:spPr>
          <a:xfrm>
            <a:off x="5897880" y="1810512"/>
            <a:ext cx="274320" cy="274320"/>
          </a:xfrm>
          <a:prstGeom prst="ellipse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309360" y="1783080"/>
            <a:ext cx="2377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Rules decide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6309360" y="2112264"/>
            <a:ext cx="2331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Seven pure rules and one policy gate set every outcome.</a:t>
            </a:r>
            <a:endParaRPr lang="en-US" sz="1100" dirty="0"/>
          </a:p>
        </p:txBody>
      </p:sp>
      <p:sp>
        <p:nvSpPr>
          <p:cNvPr id="10" name="dot1"/>
          <p:cNvSpPr/>
          <p:nvPr/>
        </p:nvSpPr>
        <p:spPr>
          <a:xfrm>
            <a:off x="5897880" y="2770632"/>
            <a:ext cx="274320" cy="27432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309360" y="2743200"/>
            <a:ext cx="2377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explains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6309360" y="3072384"/>
            <a:ext cx="2331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Gemini explains a decision already made. It cannot change a score.</a:t>
            </a:r>
            <a:endParaRPr lang="en-US" sz="1100" dirty="0"/>
          </a:p>
        </p:txBody>
      </p:sp>
      <p:sp>
        <p:nvSpPr>
          <p:cNvPr id="13" name="dot2"/>
          <p:cNvSpPr/>
          <p:nvPr/>
        </p:nvSpPr>
        <p:spPr>
          <a:xfrm>
            <a:off x="5897880" y="3730752"/>
            <a:ext cx="274320" cy="27432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6309360" y="3703320"/>
            <a:ext cx="2377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Humans authorize</a:t>
            </a:r>
            <a:endParaRPr lang="en-US" sz="1600" dirty="0"/>
          </a:p>
        </p:txBody>
      </p:sp>
      <p:sp>
        <p:nvSpPr>
          <p:cNvPr id="15" name="Text 13"/>
          <p:cNvSpPr txBox="1"/>
          <p:nvPr/>
        </p:nvSpPr>
        <p:spPr>
          <a:xfrm>
            <a:off x="6309360" y="4032504"/>
            <a:ext cx="2331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Release needs customer verification and is audited.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>
            <a:spLocks noGrp="1"/>
          </p:cNvSpPr>
          <p:nvPr>
            <p:ph type="title" idx="102" hasCustomPrompt="1"/>
          </p:nvPr>
        </p:nvSpPr>
        <p:spPr>
          <a:xfrm>
            <a:off x="365760" y="621792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Opportunities</a:t>
            </a:r>
            <a:endParaRPr lang="en-US" sz="2200" dirty="0"/>
          </a:p>
        </p:txBody>
      </p:sp>
      <p:sp>
        <p:nvSpPr>
          <p:cNvPr id="3" name="opp_card0"/>
          <p:cNvSpPr/>
          <p:nvPr/>
        </p:nvSpPr>
        <p:spPr>
          <a:xfrm>
            <a:off x="365760" y="1188720"/>
            <a:ext cx="2651760" cy="3611880"/>
          </a:xfrm>
          <a:prstGeom prst="roundRect">
            <a:avLst>
              <a:gd name="adj" fmla="val 3448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4" name="opp_num0"/>
          <p:cNvSpPr/>
          <p:nvPr/>
        </p:nvSpPr>
        <p:spPr>
          <a:xfrm>
            <a:off x="548640" y="1353312"/>
            <a:ext cx="365760" cy="365760"/>
          </a:xfrm>
          <a:prstGeom prst="ellipse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48640" y="135331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1005840" y="1316736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different is it from existing ideas?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1965960"/>
            <a:ext cx="233172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Most fraud tools score risk with opaque models. SENTINEL AI enforces an explicit, versioned policy gate.</a:t>
            </a:r>
            <a:endParaRPr lang="en-US" sz="11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gate acts before settlement, not after the money has left.</a:t>
            </a:r>
            <a:endParaRPr lang="en-US" sz="11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Built around one concrete safeguard: the S$50,000 protected balance and 50% in 24 hours rule.</a:t>
            </a:r>
            <a:endParaRPr lang="en-US" sz="1150" dirty="0"/>
          </a:p>
        </p:txBody>
      </p:sp>
      <p:sp>
        <p:nvSpPr>
          <p:cNvPr id="8" name="opp_card1"/>
          <p:cNvSpPr/>
          <p:nvPr/>
        </p:nvSpPr>
        <p:spPr>
          <a:xfrm>
            <a:off x="3200400" y="1188720"/>
            <a:ext cx="2651760" cy="3611880"/>
          </a:xfrm>
          <a:prstGeom prst="roundRect">
            <a:avLst>
              <a:gd name="adj" fmla="val 3448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9" name="opp_num1"/>
          <p:cNvSpPr/>
          <p:nvPr/>
        </p:nvSpPr>
        <p:spPr>
          <a:xfrm>
            <a:off x="3383280" y="1353312"/>
            <a:ext cx="365760" cy="36576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3383280" y="135331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3840480" y="1316736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will it solve the problem?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3383280" y="1965960"/>
            <a:ext cx="233172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Holds a draining transfer in the decision API, before it settles.</a:t>
            </a:r>
            <a:endParaRPr lang="en-US" sz="11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Shows operators an itemised score and the evidence behind it.</a:t>
            </a:r>
            <a:endParaRPr lang="en-US" sz="11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Contacts the customer, verifies, then releases or blocks, with every step on an append-only audit trail.</a:t>
            </a:r>
            <a:endParaRPr lang="en-US" sz="1150" dirty="0"/>
          </a:p>
        </p:txBody>
      </p:sp>
      <p:sp>
        <p:nvSpPr>
          <p:cNvPr id="13" name="opp_card2"/>
          <p:cNvSpPr/>
          <p:nvPr/>
        </p:nvSpPr>
        <p:spPr>
          <a:xfrm>
            <a:off x="6035040" y="1188720"/>
            <a:ext cx="2651760" cy="3611880"/>
          </a:xfrm>
          <a:prstGeom prst="roundRect">
            <a:avLst>
              <a:gd name="adj" fmla="val 3448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4" name="opp_num2"/>
          <p:cNvSpPr/>
          <p:nvPr/>
        </p:nvSpPr>
        <p:spPr>
          <a:xfrm>
            <a:off x="6217920" y="1353312"/>
            <a:ext cx="365760" cy="36576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6217920" y="135331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6675120" y="1316736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USP of the proposed solution</a:t>
            </a:r>
            <a:endParaRPr lang="en-US" sz="1300" dirty="0"/>
          </a:p>
        </p:txBody>
      </p:sp>
      <p:sp>
        <p:nvSpPr>
          <p:cNvPr id="17" name="Text 15"/>
          <p:cNvSpPr txBox="1"/>
          <p:nvPr/>
        </p:nvSpPr>
        <p:spPr>
          <a:xfrm>
            <a:off x="6217920" y="1965960"/>
            <a:ext cx="233172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Rules decide. AI explains. Humans authorize.</a:t>
            </a:r>
            <a:endParaRPr lang="en-US" sz="11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Gemini output is schema-validated and every claim must cite a field in the evidence bundle, or it is removed.</a:t>
            </a:r>
            <a:endParaRPr lang="en-US" sz="11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Explanations never recommend releasing a hold.</a:t>
            </a:r>
            <a:endParaRPr lang="en-US" sz="11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>
            <a:spLocks noGrp="1"/>
          </p:cNvSpPr>
          <p:nvPr>
            <p:ph type="title" idx="102" hasCustomPrompt="1"/>
          </p:nvPr>
        </p:nvSpPr>
        <p:spPr>
          <a:xfrm>
            <a:off x="365760" y="621792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List of features offered by the solution</a:t>
            </a:r>
            <a:endParaRPr lang="en-US" sz="2200" dirty="0"/>
          </a:p>
        </p:txBody>
      </p:sp>
      <p:sp>
        <p:nvSpPr>
          <p:cNvPr id="3" name="feat_card0"/>
          <p:cNvSpPr/>
          <p:nvPr/>
        </p:nvSpPr>
        <p:spPr>
          <a:xfrm>
            <a:off x="365760" y="1188720"/>
            <a:ext cx="4114800" cy="786384"/>
          </a:xfrm>
          <a:prstGeom prst="roundRect">
            <a:avLst>
              <a:gd name="adj" fmla="val 9302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feat_num0"/>
          <p:cNvSpPr/>
          <p:nvPr/>
        </p:nvSpPr>
        <p:spPr>
          <a:xfrm>
            <a:off x="502920" y="1371600"/>
            <a:ext cx="420624" cy="420624"/>
          </a:xfrm>
          <a:prstGeom prst="ellipse">
            <a:avLst/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 txBox="1"/>
          <p:nvPr/>
        </p:nvSpPr>
        <p:spPr>
          <a:xfrm>
            <a:off x="502920" y="137160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1051560" y="1271016"/>
            <a:ext cx="33375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Transaction simulator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1051560" y="1536192"/>
            <a:ext cx="3337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chemeClr val="accent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Deterministic takeover scenario on synthetic data, plus seeded noise traffic.</a:t>
            </a:r>
            <a:endParaRPr lang="en-US" sz="1050" dirty="0"/>
          </a:p>
        </p:txBody>
      </p:sp>
      <p:sp>
        <p:nvSpPr>
          <p:cNvPr id="8" name="feat_card1"/>
          <p:cNvSpPr/>
          <p:nvPr/>
        </p:nvSpPr>
        <p:spPr>
          <a:xfrm>
            <a:off x="4617720" y="1188720"/>
            <a:ext cx="4114800" cy="786384"/>
          </a:xfrm>
          <a:prstGeom prst="roundRect">
            <a:avLst>
              <a:gd name="adj" fmla="val 9302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feat_num1"/>
          <p:cNvSpPr/>
          <p:nvPr/>
        </p:nvSpPr>
        <p:spPr>
          <a:xfrm>
            <a:off x="4754880" y="1371600"/>
            <a:ext cx="420624" cy="420624"/>
          </a:xfrm>
          <a:prstGeom prst="ellipse">
            <a:avLst/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 txBox="1"/>
          <p:nvPr/>
        </p:nvSpPr>
        <p:spPr>
          <a:xfrm>
            <a:off x="4754880" y="137160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5303520" y="1271016"/>
            <a:ext cx="33375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Real-time risk engine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5303520" y="1536192"/>
            <a:ext cx="3337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chemeClr val="accent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Seven pure rules and a policy gate return ALLOW, HOLD or REJECT.</a:t>
            </a:r>
            <a:endParaRPr lang="en-US" sz="1050" dirty="0"/>
          </a:p>
        </p:txBody>
      </p:sp>
      <p:sp>
        <p:nvSpPr>
          <p:cNvPr id="13" name="feat_card2"/>
          <p:cNvSpPr/>
          <p:nvPr/>
        </p:nvSpPr>
        <p:spPr>
          <a:xfrm>
            <a:off x="365760" y="2084832"/>
            <a:ext cx="4114800" cy="786384"/>
          </a:xfrm>
          <a:prstGeom prst="roundRect">
            <a:avLst>
              <a:gd name="adj" fmla="val 9302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feat_num2"/>
          <p:cNvSpPr/>
          <p:nvPr/>
        </p:nvSpPr>
        <p:spPr>
          <a:xfrm>
            <a:off x="502920" y="2267712"/>
            <a:ext cx="420624" cy="420624"/>
          </a:xfrm>
          <a:prstGeom prst="ellipse">
            <a:avLst/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 txBox="1"/>
          <p:nvPr/>
        </p:nvSpPr>
        <p:spPr>
          <a:xfrm>
            <a:off x="502920" y="2267712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1051560" y="2167128"/>
            <a:ext cx="33375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Rapid-drain detection</a:t>
            </a:r>
            <a:endParaRPr lang="en-US" sz="1300" dirty="0"/>
          </a:p>
        </p:txBody>
      </p:sp>
      <p:sp>
        <p:nvSpPr>
          <p:cNvPr id="17" name="Text 15"/>
          <p:cNvSpPr txBox="1"/>
          <p:nvPr/>
        </p:nvSpPr>
        <p:spPr>
          <a:xfrm>
            <a:off x="1051560" y="2432304"/>
            <a:ext cx="3337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chemeClr val="accent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50% of balance in 24 hours, with configurable thresholds.</a:t>
            </a:r>
            <a:endParaRPr lang="en-US" sz="1050" dirty="0"/>
          </a:p>
        </p:txBody>
      </p:sp>
      <p:sp>
        <p:nvSpPr>
          <p:cNvPr id="18" name="feat_card3"/>
          <p:cNvSpPr/>
          <p:nvPr/>
        </p:nvSpPr>
        <p:spPr>
          <a:xfrm>
            <a:off x="4617720" y="2084832"/>
            <a:ext cx="4114800" cy="786384"/>
          </a:xfrm>
          <a:prstGeom prst="roundRect">
            <a:avLst>
              <a:gd name="adj" fmla="val 9302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feat_num3"/>
          <p:cNvSpPr/>
          <p:nvPr/>
        </p:nvSpPr>
        <p:spPr>
          <a:xfrm>
            <a:off x="4754880" y="2267712"/>
            <a:ext cx="420624" cy="420624"/>
          </a:xfrm>
          <a:prstGeom prst="ellipse">
            <a:avLst/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 txBox="1"/>
          <p:nvPr/>
        </p:nvSpPr>
        <p:spPr>
          <a:xfrm>
            <a:off x="4754880" y="2267712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400" dirty="0"/>
          </a:p>
        </p:txBody>
      </p:sp>
      <p:sp>
        <p:nvSpPr>
          <p:cNvPr id="21" name="Text 19"/>
          <p:cNvSpPr txBox="1"/>
          <p:nvPr/>
        </p:nvSpPr>
        <p:spPr>
          <a:xfrm>
            <a:off x="5303520" y="2167128"/>
            <a:ext cx="33375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Intervention workflow</a:t>
            </a:r>
            <a:endParaRPr lang="en-US" sz="1300" dirty="0"/>
          </a:p>
        </p:txBody>
      </p:sp>
      <p:sp>
        <p:nvSpPr>
          <p:cNvPr id="22" name="Text 20"/>
          <p:cNvSpPr txBox="1"/>
          <p:nvPr/>
        </p:nvSpPr>
        <p:spPr>
          <a:xfrm>
            <a:off x="5303520" y="2432304"/>
            <a:ext cx="3337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chemeClr val="accent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Customer contact, account kill-switch and verified release, all audited.</a:t>
            </a:r>
            <a:endParaRPr lang="en-US" sz="1050" dirty="0"/>
          </a:p>
        </p:txBody>
      </p:sp>
      <p:sp>
        <p:nvSpPr>
          <p:cNvPr id="23" name="feat_card4"/>
          <p:cNvSpPr/>
          <p:nvPr/>
        </p:nvSpPr>
        <p:spPr>
          <a:xfrm>
            <a:off x="365760" y="2980944"/>
            <a:ext cx="4114800" cy="786384"/>
          </a:xfrm>
          <a:prstGeom prst="roundRect">
            <a:avLst>
              <a:gd name="adj" fmla="val 9302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feat_num4"/>
          <p:cNvSpPr/>
          <p:nvPr/>
        </p:nvSpPr>
        <p:spPr>
          <a:xfrm>
            <a:off x="502920" y="3163824"/>
            <a:ext cx="420624" cy="420624"/>
          </a:xfrm>
          <a:prstGeom prst="ellipse">
            <a:avLst/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 txBox="1"/>
          <p:nvPr/>
        </p:nvSpPr>
        <p:spPr>
          <a:xfrm>
            <a:off x="502920" y="3163824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400" dirty="0"/>
          </a:p>
        </p:txBody>
      </p:sp>
      <p:sp>
        <p:nvSpPr>
          <p:cNvPr id="26" name="Text 24"/>
          <p:cNvSpPr txBox="1"/>
          <p:nvPr/>
        </p:nvSpPr>
        <p:spPr>
          <a:xfrm>
            <a:off x="1051560" y="3063240"/>
            <a:ext cx="33375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Investigation workspace</a:t>
            </a:r>
            <a:endParaRPr lang="en-US" sz="1300" dirty="0"/>
          </a:p>
        </p:txBody>
      </p:sp>
      <p:sp>
        <p:nvSpPr>
          <p:cNvPr id="27" name="Text 25"/>
          <p:cNvSpPr txBox="1"/>
          <p:nvPr/>
        </p:nvSpPr>
        <p:spPr>
          <a:xfrm>
            <a:off x="1051560" y="3328416"/>
            <a:ext cx="3337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chemeClr val="accent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Deterministic attribution, timeline and evidence bundle per case.</a:t>
            </a:r>
            <a:endParaRPr lang="en-US" sz="1050" dirty="0"/>
          </a:p>
        </p:txBody>
      </p:sp>
      <p:sp>
        <p:nvSpPr>
          <p:cNvPr id="28" name="feat_card5"/>
          <p:cNvSpPr/>
          <p:nvPr/>
        </p:nvSpPr>
        <p:spPr>
          <a:xfrm>
            <a:off x="4617720" y="2980944"/>
            <a:ext cx="4114800" cy="786384"/>
          </a:xfrm>
          <a:prstGeom prst="roundRect">
            <a:avLst>
              <a:gd name="adj" fmla="val 9302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feat_num5"/>
          <p:cNvSpPr/>
          <p:nvPr/>
        </p:nvSpPr>
        <p:spPr>
          <a:xfrm>
            <a:off x="4754880" y="3163824"/>
            <a:ext cx="420624" cy="420624"/>
          </a:xfrm>
          <a:prstGeom prst="ellipse">
            <a:avLst/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Text 28"/>
          <p:cNvSpPr txBox="1"/>
          <p:nvPr/>
        </p:nvSpPr>
        <p:spPr>
          <a:xfrm>
            <a:off x="4754880" y="3163824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1400" dirty="0"/>
          </a:p>
        </p:txBody>
      </p:sp>
      <p:sp>
        <p:nvSpPr>
          <p:cNvPr id="31" name="Text 29"/>
          <p:cNvSpPr txBox="1"/>
          <p:nvPr/>
        </p:nvSpPr>
        <p:spPr>
          <a:xfrm>
            <a:off x="5303520" y="3063240"/>
            <a:ext cx="33375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explanation and summary</a:t>
            </a:r>
            <a:endParaRPr lang="en-US" sz="1300" dirty="0"/>
          </a:p>
        </p:txBody>
      </p:sp>
      <p:sp>
        <p:nvSpPr>
          <p:cNvPr id="32" name="Text 30"/>
          <p:cNvSpPr txBox="1"/>
          <p:nvPr/>
        </p:nvSpPr>
        <p:spPr>
          <a:xfrm>
            <a:off x="5303520" y="3328416"/>
            <a:ext cx="3337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chemeClr val="accent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Gemini on Vertex AI, advisory only, every claim cites evidence.</a:t>
            </a:r>
            <a:endParaRPr lang="en-US" sz="1050" dirty="0"/>
          </a:p>
        </p:txBody>
      </p:sp>
      <p:sp>
        <p:nvSpPr>
          <p:cNvPr id="33" name="feat_card6"/>
          <p:cNvSpPr/>
          <p:nvPr/>
        </p:nvSpPr>
        <p:spPr>
          <a:xfrm>
            <a:off x="365760" y="3877056"/>
            <a:ext cx="4114800" cy="786384"/>
          </a:xfrm>
          <a:prstGeom prst="roundRect">
            <a:avLst>
              <a:gd name="adj" fmla="val 9302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feat_num6"/>
          <p:cNvSpPr/>
          <p:nvPr/>
        </p:nvSpPr>
        <p:spPr>
          <a:xfrm>
            <a:off x="502920" y="4059936"/>
            <a:ext cx="420624" cy="420624"/>
          </a:xfrm>
          <a:prstGeom prst="ellipse">
            <a:avLst/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" name="Text 33"/>
          <p:cNvSpPr txBox="1"/>
          <p:nvPr/>
        </p:nvSpPr>
        <p:spPr>
          <a:xfrm>
            <a:off x="502920" y="405993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1400" dirty="0"/>
          </a:p>
        </p:txBody>
      </p:sp>
      <p:sp>
        <p:nvSpPr>
          <p:cNvPr id="36" name="Text 34"/>
          <p:cNvSpPr txBox="1"/>
          <p:nvPr/>
        </p:nvSpPr>
        <p:spPr>
          <a:xfrm>
            <a:off x="1051560" y="3959352"/>
            <a:ext cx="33375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Entity graph</a:t>
            </a:r>
            <a:endParaRPr lang="en-US" sz="1300" dirty="0"/>
          </a:p>
        </p:txBody>
      </p:sp>
      <p:sp>
        <p:nvSpPr>
          <p:cNvPr id="37" name="Text 35"/>
          <p:cNvSpPr txBox="1"/>
          <p:nvPr/>
        </p:nvSpPr>
        <p:spPr>
          <a:xfrm>
            <a:off x="1051560" y="4224528"/>
            <a:ext cx="3337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>
                <a:solidFill>
                  <a:schemeClr val="accent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Server-side two-hop network and a fund trace that stops at the observed boundary.</a:t>
            </a:r>
            <a:endParaRPr lang="en-US" sz="1050" dirty="0"/>
          </a:p>
        </p:txBody>
      </p:sp>
      <p:sp>
        <p:nvSpPr>
          <p:cNvPr id="38" name="feat_card7"/>
          <p:cNvSpPr/>
          <p:nvPr/>
        </p:nvSpPr>
        <p:spPr>
          <a:xfrm>
            <a:off x="4617720" y="3877056"/>
            <a:ext cx="4114800" cy="786384"/>
          </a:xfrm>
          <a:prstGeom prst="roundRect">
            <a:avLst>
              <a:gd name="adj" fmla="val 9302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9" name="feat_num7"/>
          <p:cNvSpPr/>
          <p:nvPr/>
        </p:nvSpPr>
        <p:spPr>
          <a:xfrm>
            <a:off x="4754880" y="4059936"/>
            <a:ext cx="420624" cy="420624"/>
          </a:xfrm>
          <a:prstGeom prst="ellipse">
            <a:avLst/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0" name="Text 38"/>
          <p:cNvSpPr txBox="1"/>
          <p:nvPr/>
        </p:nvSpPr>
        <p:spPr>
          <a:xfrm>
            <a:off x="4754880" y="405993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</a:t>
            </a:r>
            <a:endParaRPr lang="en-US" sz="1400" dirty="0"/>
          </a:p>
        </p:txBody>
      </p:sp>
      <p:sp>
        <p:nvSpPr>
          <p:cNvPr id="41" name="Text 39"/>
          <p:cNvSpPr txBox="1"/>
          <p:nvPr/>
        </p:nvSpPr>
        <p:spPr>
          <a:xfrm>
            <a:off x="5303520" y="3959352"/>
            <a:ext cx="33375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Case reports and audit</a:t>
            </a:r>
            <a:endParaRPr lang="en-US" sz="1300" dirty="0"/>
          </a:p>
        </p:txBody>
      </p:sp>
      <p:sp>
        <p:nvSpPr>
          <p:cNvPr id="42" name="Text 40"/>
          <p:cNvSpPr txBox="1"/>
          <p:nvPr/>
        </p:nvSpPr>
        <p:spPr>
          <a:xfrm>
            <a:off x="5303520" y="4224528"/>
            <a:ext cx="3337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>
                <a:solidFill>
                  <a:schemeClr val="accent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Report lifecycle, analyst sign-off, PDF export and a full audit log.</a:t>
            </a:r>
            <a:endParaRPr lang="en-US" sz="1050" dirty="0"/>
          </a:p>
        </p:txBody>
      </p:sp>
      <p:sp>
        <p:nvSpPr>
          <p:cNvPr id="43" name="Text 41"/>
          <p:cNvSpPr txBox="1"/>
          <p:nvPr/>
        </p:nvSpPr>
        <p:spPr>
          <a:xfrm>
            <a:off x="365760" y="4773168"/>
            <a:ext cx="8412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>
                <a:solidFill>
                  <a:schemeClr val="accent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Also: Control Tower, Live Transactions, Accounts, Policies &amp; Rules, Analytics, Integrations, bank data lens, performance panel.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>
            <a:spLocks noGrp="1"/>
          </p:cNvSpPr>
          <p:nvPr>
            <p:ph type="title" idx="102" hasCustomPrompt="1"/>
          </p:nvPr>
        </p:nvSpPr>
        <p:spPr>
          <a:xfrm>
            <a:off x="365760" y="621792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Process flow diagram</a:t>
            </a:r>
            <a:endParaRPr lang="en-US" sz="2200" dirty="0"/>
          </a:p>
        </p:txBody>
      </p:sp>
      <p:sp>
        <p:nvSpPr>
          <p:cNvPr id="3" name="flow_step0"/>
          <p:cNvSpPr/>
          <p:nvPr/>
        </p:nvSpPr>
        <p:spPr>
          <a:xfrm>
            <a:off x="365760" y="1234440"/>
            <a:ext cx="1572768" cy="566928"/>
          </a:xfrm>
          <a:prstGeom prst="roundRect">
            <a:avLst>
              <a:gd name="adj" fmla="val 12903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365760" y="1234440"/>
            <a:ext cx="157276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 Detect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393192" y="1920240"/>
            <a:ext cx="151790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Simulator sends a transfer to the pre-transaction decision API.</a:t>
            </a:r>
            <a:endParaRPr lang="en-US" sz="1100" dirty="0"/>
          </a:p>
        </p:txBody>
      </p:sp>
      <p:sp>
        <p:nvSpPr>
          <p:cNvPr id="6" name="flow_arrow0"/>
          <p:cNvSpPr/>
          <p:nvPr/>
        </p:nvSpPr>
        <p:spPr>
          <a:xfrm>
            <a:off x="1920240" y="1426464"/>
            <a:ext cx="173736" cy="182880"/>
          </a:xfrm>
          <a:prstGeom prst="rightArrow">
            <a:avLst/>
          </a:prstGeom>
          <a:solidFill>
            <a:schemeClr val="accent6"/>
          </a:solidFill>
          <a:ln w="12700">
            <a:solidFill>
              <a:schemeClr val="accent6"/>
            </a:solidFill>
            <a:prstDash val="solid"/>
          </a:ln>
        </p:spPr>
      </p:sp>
      <p:sp>
        <p:nvSpPr>
          <p:cNvPr id="7" name="flow_step1"/>
          <p:cNvSpPr/>
          <p:nvPr/>
        </p:nvSpPr>
        <p:spPr>
          <a:xfrm>
            <a:off x="2075688" y="1234440"/>
            <a:ext cx="1572768" cy="566928"/>
          </a:xfrm>
          <a:prstGeom prst="roundRect">
            <a:avLst>
              <a:gd name="adj" fmla="val 12903"/>
            </a:avLst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2075688" y="1234440"/>
            <a:ext cx="157276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 Decide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2103120" y="1920240"/>
            <a:ext cx="151790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Rules engine and policy gate return ALLOW, HOLD or REJECT.</a:t>
            </a:r>
            <a:endParaRPr lang="en-US" sz="1100" dirty="0"/>
          </a:p>
        </p:txBody>
      </p:sp>
      <p:sp>
        <p:nvSpPr>
          <p:cNvPr id="10" name="flow_arrow1"/>
          <p:cNvSpPr/>
          <p:nvPr/>
        </p:nvSpPr>
        <p:spPr>
          <a:xfrm>
            <a:off x="3630168" y="1426464"/>
            <a:ext cx="173736" cy="182880"/>
          </a:xfrm>
          <a:prstGeom prst="rightArrow">
            <a:avLst/>
          </a:prstGeom>
          <a:solidFill>
            <a:schemeClr val="accent6"/>
          </a:solidFill>
          <a:ln w="12700">
            <a:solidFill>
              <a:schemeClr val="accent6"/>
            </a:solidFill>
            <a:prstDash val="solid"/>
          </a:ln>
        </p:spPr>
      </p:sp>
      <p:sp>
        <p:nvSpPr>
          <p:cNvPr id="11" name="flow_step2"/>
          <p:cNvSpPr/>
          <p:nvPr/>
        </p:nvSpPr>
        <p:spPr>
          <a:xfrm>
            <a:off x="3785616" y="1234440"/>
            <a:ext cx="1572768" cy="566928"/>
          </a:xfrm>
          <a:prstGeom prst="roundRect">
            <a:avLst>
              <a:gd name="adj" fmla="val 12903"/>
            </a:avLst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3785616" y="1234440"/>
            <a:ext cx="157276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 Explain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3813048" y="1920240"/>
            <a:ext cx="151790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Gemini explains the decision from the evidence bundle. Advisory only.</a:t>
            </a:r>
            <a:endParaRPr lang="en-US" sz="1100" dirty="0"/>
          </a:p>
        </p:txBody>
      </p:sp>
      <p:sp>
        <p:nvSpPr>
          <p:cNvPr id="14" name="flow_arrow2"/>
          <p:cNvSpPr/>
          <p:nvPr/>
        </p:nvSpPr>
        <p:spPr>
          <a:xfrm>
            <a:off x="5340096" y="1426464"/>
            <a:ext cx="173736" cy="182880"/>
          </a:xfrm>
          <a:prstGeom prst="rightArrow">
            <a:avLst/>
          </a:prstGeom>
          <a:solidFill>
            <a:schemeClr val="accent6"/>
          </a:solidFill>
          <a:ln w="12700">
            <a:solidFill>
              <a:schemeClr val="accent6"/>
            </a:solidFill>
            <a:prstDash val="solid"/>
          </a:ln>
        </p:spPr>
      </p:sp>
      <p:sp>
        <p:nvSpPr>
          <p:cNvPr id="15" name="flow_step3"/>
          <p:cNvSpPr/>
          <p:nvPr/>
        </p:nvSpPr>
        <p:spPr>
          <a:xfrm>
            <a:off x="5495544" y="1234440"/>
            <a:ext cx="1572768" cy="566928"/>
          </a:xfrm>
          <a:prstGeom prst="roundRect">
            <a:avLst>
              <a:gd name="adj" fmla="val 12903"/>
            </a:avLst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5495544" y="1234440"/>
            <a:ext cx="157276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  Intervene</a:t>
            </a:r>
            <a:endParaRPr lang="en-US" sz="1400" dirty="0"/>
          </a:p>
        </p:txBody>
      </p:sp>
      <p:sp>
        <p:nvSpPr>
          <p:cNvPr id="17" name="Text 15"/>
          <p:cNvSpPr txBox="1"/>
          <p:nvPr/>
        </p:nvSpPr>
        <p:spPr>
          <a:xfrm>
            <a:off x="5522976" y="1920240"/>
            <a:ext cx="151790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Operator contacts the customer. Release only after verification.</a:t>
            </a:r>
            <a:endParaRPr lang="en-US" sz="1100" dirty="0"/>
          </a:p>
        </p:txBody>
      </p:sp>
      <p:sp>
        <p:nvSpPr>
          <p:cNvPr id="18" name="flow_arrow3"/>
          <p:cNvSpPr/>
          <p:nvPr/>
        </p:nvSpPr>
        <p:spPr>
          <a:xfrm>
            <a:off x="7050024" y="1426464"/>
            <a:ext cx="173736" cy="182880"/>
          </a:xfrm>
          <a:prstGeom prst="rightArrow">
            <a:avLst/>
          </a:prstGeom>
          <a:solidFill>
            <a:schemeClr val="accent6"/>
          </a:solidFill>
          <a:ln w="12700">
            <a:solidFill>
              <a:schemeClr val="accent6"/>
            </a:solidFill>
            <a:prstDash val="solid"/>
          </a:ln>
        </p:spPr>
      </p:sp>
      <p:sp>
        <p:nvSpPr>
          <p:cNvPr id="19" name="flow_step4"/>
          <p:cNvSpPr/>
          <p:nvPr/>
        </p:nvSpPr>
        <p:spPr>
          <a:xfrm>
            <a:off x="7205472" y="1234440"/>
            <a:ext cx="1572768" cy="566928"/>
          </a:xfrm>
          <a:prstGeom prst="roundRect">
            <a:avLst>
              <a:gd name="adj" fmla="val 12903"/>
            </a:avLst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7205472" y="1234440"/>
            <a:ext cx="157276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  Investigate</a:t>
            </a:r>
            <a:endParaRPr lang="en-US" sz="1400" dirty="0"/>
          </a:p>
        </p:txBody>
      </p:sp>
      <p:sp>
        <p:nvSpPr>
          <p:cNvPr id="21" name="Text 19"/>
          <p:cNvSpPr txBox="1"/>
          <p:nvPr/>
        </p:nvSpPr>
        <p:spPr>
          <a:xfrm>
            <a:off x="7232904" y="1920240"/>
            <a:ext cx="151790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Graph, timeline and case report. Everything is audited.</a:t>
            </a:r>
            <a:endParaRPr lang="en-US" sz="1100" dirty="0"/>
          </a:p>
        </p:txBody>
      </p:sp>
      <p:sp>
        <p:nvSpPr>
          <p:cNvPr id="22" name="example_card"/>
          <p:cNvSpPr/>
          <p:nvPr/>
        </p:nvSpPr>
        <p:spPr>
          <a:xfrm>
            <a:off x="365760" y="3017520"/>
            <a:ext cx="8412480" cy="1783080"/>
          </a:xfrm>
          <a:prstGeom prst="roundRect">
            <a:avLst>
              <a:gd name="adj" fmla="val 5128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594360" y="3136392"/>
            <a:ext cx="7955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Worked example from the demo: account takeover on ACC-10291</a:t>
            </a:r>
            <a:endParaRPr lang="en-US" sz="1300" dirty="0"/>
          </a:p>
        </p:txBody>
      </p:sp>
      <p:sp>
        <p:nvSpPr>
          <p:cNvPr id="24" name="Text 22"/>
          <p:cNvSpPr txBox="1"/>
          <p:nvPr/>
        </p:nvSpPr>
        <p:spPr>
          <a:xfrm>
            <a:off x="594360" y="3520440"/>
            <a:ext cx="1920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S$52,000</a:t>
            </a:r>
            <a:endParaRPr lang="en-US" sz="2600" dirty="0"/>
          </a:p>
        </p:txBody>
      </p:sp>
      <p:sp>
        <p:nvSpPr>
          <p:cNvPr id="25" name="Text 23"/>
          <p:cNvSpPr txBox="1"/>
          <p:nvPr/>
        </p:nvSpPr>
        <p:spPr>
          <a:xfrm>
            <a:off x="594360" y="4041648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chemeClr val="accent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opening balance</a:t>
            </a:r>
            <a:endParaRPr lang="en-US" sz="1100" dirty="0"/>
          </a:p>
        </p:txBody>
      </p:sp>
      <p:sp>
        <p:nvSpPr>
          <p:cNvPr id="26" name="Text 24"/>
          <p:cNvSpPr txBox="1"/>
          <p:nvPr/>
        </p:nvSpPr>
        <p:spPr>
          <a:xfrm>
            <a:off x="2679192" y="3520440"/>
            <a:ext cx="1920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S$34,000</a:t>
            </a:r>
            <a:endParaRPr lang="en-US" sz="2600" dirty="0"/>
          </a:p>
        </p:txBody>
      </p:sp>
      <p:sp>
        <p:nvSpPr>
          <p:cNvPr id="27" name="Text 25"/>
          <p:cNvSpPr txBox="1"/>
          <p:nvPr/>
        </p:nvSpPr>
        <p:spPr>
          <a:xfrm>
            <a:off x="2679192" y="4041648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chemeClr val="accent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moved in 24 hours</a:t>
            </a:r>
            <a:endParaRPr lang="en-US" sz="1100" dirty="0"/>
          </a:p>
        </p:txBody>
      </p:sp>
      <p:sp>
        <p:nvSpPr>
          <p:cNvPr id="28" name="Text 26"/>
          <p:cNvSpPr txBox="1"/>
          <p:nvPr/>
        </p:nvSpPr>
        <p:spPr>
          <a:xfrm>
            <a:off x="4764024" y="3520440"/>
            <a:ext cx="1920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chemeClr val="accent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65.4%</a:t>
            </a:r>
            <a:endParaRPr lang="en-US" sz="2600" dirty="0"/>
          </a:p>
        </p:txBody>
      </p:sp>
      <p:sp>
        <p:nvSpPr>
          <p:cNvPr id="29" name="Text 27"/>
          <p:cNvSpPr txBox="1"/>
          <p:nvPr/>
        </p:nvSpPr>
        <p:spPr>
          <a:xfrm>
            <a:off x="4764024" y="4041648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chemeClr val="accent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of balance, gate is 50%</a:t>
            </a:r>
            <a:endParaRPr lang="en-US" sz="1100" dirty="0"/>
          </a:p>
        </p:txBody>
      </p:sp>
      <p:sp>
        <p:nvSpPr>
          <p:cNvPr id="30" name="Text 28"/>
          <p:cNvSpPr txBox="1"/>
          <p:nvPr/>
        </p:nvSpPr>
        <p:spPr>
          <a:xfrm>
            <a:off x="6848856" y="3520440"/>
            <a:ext cx="1920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chemeClr val="accent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95</a:t>
            </a:r>
            <a:endParaRPr lang="en-US" sz="2600" dirty="0"/>
          </a:p>
        </p:txBody>
      </p:sp>
      <p:sp>
        <p:nvSpPr>
          <p:cNvPr id="31" name="Text 29"/>
          <p:cNvSpPr txBox="1"/>
          <p:nvPr/>
        </p:nvSpPr>
        <p:spPr>
          <a:xfrm>
            <a:off x="6848856" y="4041648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chemeClr val="accent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CRITICAL, policy: HOLD</a:t>
            </a:r>
            <a:endParaRPr lang="en-US" sz="1100" dirty="0"/>
          </a:p>
        </p:txBody>
      </p:sp>
      <p:sp>
        <p:nvSpPr>
          <p:cNvPr id="32" name="Text 30"/>
          <p:cNvSpPr txBox="1"/>
          <p:nvPr/>
        </p:nvSpPr>
        <p:spPr>
          <a:xfrm>
            <a:off x="594360" y="4370832"/>
            <a:ext cx="7955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Rule SG-RD-50 fires, the transfer is held before settlement, and the operator releases it only after customer verification.</a:t>
            </a:r>
            <a:endParaRPr lang="en-US" sz="11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>
            <a:spLocks noGrp="1"/>
          </p:cNvSpPr>
          <p:nvPr>
            <p:ph type="title" idx="102" hasCustomPrompt="1"/>
          </p:nvPr>
        </p:nvSpPr>
        <p:spPr>
          <a:xfrm>
            <a:off x="365760" y="621792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Wireframes/Mock diagrams of the proposed solution</a:t>
            </a:r>
            <a:endParaRPr lang="en-US" sz="2200" dirty="0"/>
          </a:p>
        </p:txBody>
      </p:sp>
      <p:pic>
        <p:nvPicPr>
          <p:cNvPr id="3" name="cases" descr="Alerts &amp; Cases (light theme)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1188720"/>
            <a:ext cx="4114800" cy="1864519"/>
          </a:xfrm>
          <a:prstGeom prst="rect">
            <a:avLst/>
          </a:prstGeom>
        </p:spPr>
      </p:pic>
      <p:sp>
        <p:nvSpPr>
          <p:cNvPr id="4" name="cases_frame"/>
          <p:cNvSpPr/>
          <p:nvPr/>
        </p:nvSpPr>
        <p:spPr>
          <a:xfrm>
            <a:off x="365760" y="1188720"/>
            <a:ext cx="4114800" cy="1864519"/>
          </a:xfrm>
          <a:prstGeom prst="rect">
            <a:avLst/>
          </a:prstGeom>
          <a:ln w="9525">
            <a:solidFill>
              <a:srgbClr val="C9CED3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365760" y="3098959"/>
            <a:ext cx="4114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chemeClr val="accent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Alerts &amp; Cases (light theme)</a:t>
            </a:r>
            <a:endParaRPr lang="en-US" sz="1000" dirty="0"/>
          </a:p>
        </p:txBody>
      </p:sp>
      <p:pic>
        <p:nvPicPr>
          <p:cNvPr id="6" name="tower_dark" descr="Control Tower (dark theme)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63440" y="1188720"/>
            <a:ext cx="4114800" cy="1864519"/>
          </a:xfrm>
          <a:prstGeom prst="rect">
            <a:avLst/>
          </a:prstGeom>
        </p:spPr>
      </p:pic>
      <p:sp>
        <p:nvSpPr>
          <p:cNvPr id="7" name="tower_dark_frame"/>
          <p:cNvSpPr/>
          <p:nvPr/>
        </p:nvSpPr>
        <p:spPr>
          <a:xfrm>
            <a:off x="4663440" y="1188720"/>
            <a:ext cx="4114800" cy="1864519"/>
          </a:xfrm>
          <a:prstGeom prst="rect">
            <a:avLst/>
          </a:prstGeom>
          <a:ln w="9525">
            <a:solidFill>
              <a:srgbClr val="C9CED3"/>
            </a:solidFill>
            <a:prstDash val="solid"/>
          </a:ln>
        </p:spPr>
      </p:sp>
      <p:sp>
        <p:nvSpPr>
          <p:cNvPr id="8" name="Text 4"/>
          <p:cNvSpPr txBox="1"/>
          <p:nvPr/>
        </p:nvSpPr>
        <p:spPr>
          <a:xfrm>
            <a:off x="4663440" y="3098959"/>
            <a:ext cx="4114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chemeClr val="accent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Control Tower (dark theme)</a:t>
            </a:r>
            <a:endParaRPr lang="en-US" sz="1000" dirty="0"/>
          </a:p>
        </p:txBody>
      </p:sp>
      <p:sp>
        <p:nvSpPr>
          <p:cNvPr id="9" name="Text 5"/>
          <p:cNvSpPr txBox="1"/>
          <p:nvPr/>
        </p:nvSpPr>
        <p:spPr>
          <a:xfrm>
            <a:off x="365760" y="3611880"/>
            <a:ext cx="8412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Design language: </a:t>
            </a:r>
            <a:r>
              <a:rPr lang="en-US" sz="1300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single console for bank operators with light and dark themes, a persistent module navigator, and the policy decision always shown next to AI output.</a:t>
            </a:r>
            <a:endParaRPr lang="en-US" sz="1300" dirty="0"/>
          </a:p>
        </p:txBody>
      </p:sp>
      <p:sp>
        <p:nvSpPr>
          <p:cNvPr id="10" name="Text 6"/>
          <p:cNvSpPr txBox="1"/>
          <p:nvPr/>
        </p:nvSpPr>
        <p:spPr>
          <a:xfrm>
            <a:off x="365760" y="4297680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chemeClr val="accent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These are screens of the working prototype, not static mock-ups.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>
            <a:spLocks noGrp="1"/>
          </p:cNvSpPr>
          <p:nvPr>
            <p:ph type="title" idx="102" hasCustomPrompt="1"/>
          </p:nvPr>
        </p:nvSpPr>
        <p:spPr>
          <a:xfrm>
            <a:off x="365760" y="621792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Architecture diagram of the proposed solution</a:t>
            </a:r>
            <a:endParaRPr lang="en-US" sz="2200" dirty="0"/>
          </a:p>
        </p:txBody>
      </p:sp>
      <p:sp>
        <p:nvSpPr>
          <p:cNvPr id="3" name="arch_sim"/>
          <p:cNvSpPr/>
          <p:nvPr/>
        </p:nvSpPr>
        <p:spPr>
          <a:xfrm>
            <a:off x="365760" y="1188720"/>
            <a:ext cx="1828800" cy="822960"/>
          </a:xfrm>
          <a:prstGeom prst="roundRect">
            <a:avLst>
              <a:gd name="adj" fmla="val 7778"/>
            </a:avLst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438912" y="1243584"/>
            <a:ext cx="16824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5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Simulator</a:t>
            </a:r>
            <a:endParaRPr lang="en-US" sz="1150" dirty="0"/>
          </a:p>
        </p:txBody>
      </p:sp>
      <p:sp>
        <p:nvSpPr>
          <p:cNvPr id="5" name="Text 3"/>
          <p:cNvSpPr txBox="1"/>
          <p:nvPr/>
        </p:nvSpPr>
        <p:spPr>
          <a:xfrm>
            <a:off x="438912" y="1499616"/>
            <a:ext cx="168249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50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Cloud Run Job</a:t>
            </a:r>
            <a:endParaRPr lang="en-US" sz="950" dirty="0"/>
          </a:p>
          <a:p>
            <a:pPr marL="0" indent="0" algn="ctr">
              <a:buNone/>
            </a:pPr>
            <a:r>
              <a:rPr lang="en-US" sz="950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synthetic transfers</a:t>
            </a:r>
            <a:endParaRPr lang="en-US" sz="950" dirty="0"/>
          </a:p>
        </p:txBody>
      </p:sp>
      <p:sp>
        <p:nvSpPr>
          <p:cNvPr id="6" name="arch_api"/>
          <p:cNvSpPr/>
          <p:nvPr/>
        </p:nvSpPr>
        <p:spPr>
          <a:xfrm>
            <a:off x="2926080" y="1188720"/>
            <a:ext cx="2743200" cy="822960"/>
          </a:xfrm>
          <a:prstGeom prst="roundRect">
            <a:avLst>
              <a:gd name="adj" fmla="val 7778"/>
            </a:avLst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2999232" y="1243584"/>
            <a:ext cx="25968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5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Decision API</a:t>
            </a:r>
            <a:endParaRPr lang="en-US" sz="1150" dirty="0"/>
          </a:p>
        </p:txBody>
      </p:sp>
      <p:sp>
        <p:nvSpPr>
          <p:cNvPr id="8" name="Text 6"/>
          <p:cNvSpPr txBox="1"/>
          <p:nvPr/>
        </p:nvSpPr>
        <p:spPr>
          <a:xfrm>
            <a:off x="2999232" y="1499616"/>
            <a:ext cx="259689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50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Cloud Run, asia-southeast1</a:t>
            </a:r>
            <a:endParaRPr lang="en-US" sz="950" dirty="0"/>
          </a:p>
          <a:p>
            <a:pPr marL="0" indent="0" algn="ctr">
              <a:buNone/>
            </a:pPr>
            <a:r>
              <a:rPr lang="en-US" sz="950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 pure rules + policy gate</a:t>
            </a:r>
            <a:endParaRPr lang="en-US" sz="950" dirty="0"/>
          </a:p>
        </p:txBody>
      </p:sp>
      <p:sp>
        <p:nvSpPr>
          <p:cNvPr id="9" name="arch_pubsub"/>
          <p:cNvSpPr/>
          <p:nvPr/>
        </p:nvSpPr>
        <p:spPr>
          <a:xfrm>
            <a:off x="6400800" y="1188720"/>
            <a:ext cx="2377440" cy="822960"/>
          </a:xfrm>
          <a:prstGeom prst="roundRect">
            <a:avLst>
              <a:gd name="adj" fmla="val 7778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473952" y="1243584"/>
            <a:ext cx="22311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5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Pub/Sub</a:t>
            </a:r>
            <a:endParaRPr lang="en-US" sz="1150" dirty="0"/>
          </a:p>
        </p:txBody>
      </p:sp>
      <p:sp>
        <p:nvSpPr>
          <p:cNvPr id="11" name="Text 9"/>
          <p:cNvSpPr txBox="1"/>
          <p:nvPr/>
        </p:nvSpPr>
        <p:spPr>
          <a:xfrm>
            <a:off x="6473952" y="1499616"/>
            <a:ext cx="223113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50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ordered lifecycle events</a:t>
            </a:r>
            <a:endParaRPr lang="en-US" sz="950" dirty="0"/>
          </a:p>
          <a:p>
            <a:pPr marL="0" indent="0" algn="ctr">
              <a:buNone/>
            </a:pPr>
            <a:r>
              <a:rPr lang="en-US" sz="950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OIDC push to backend</a:t>
            </a:r>
            <a:endParaRPr lang="en-US" sz="950" dirty="0"/>
          </a:p>
        </p:txBody>
      </p:sp>
      <p:sp>
        <p:nvSpPr>
          <p:cNvPr id="12" name="arch_ui"/>
          <p:cNvSpPr/>
          <p:nvPr/>
        </p:nvSpPr>
        <p:spPr>
          <a:xfrm>
            <a:off x="365760" y="2468880"/>
            <a:ext cx="1828800" cy="731520"/>
          </a:xfrm>
          <a:prstGeom prst="roundRect">
            <a:avLst>
              <a:gd name="adj" fmla="val 8750"/>
            </a:avLst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438912" y="2523744"/>
            <a:ext cx="16824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5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Operator UI</a:t>
            </a:r>
            <a:endParaRPr lang="en-US" sz="1150" dirty="0"/>
          </a:p>
        </p:txBody>
      </p:sp>
      <p:sp>
        <p:nvSpPr>
          <p:cNvPr id="14" name="Text 12"/>
          <p:cNvSpPr txBox="1"/>
          <p:nvPr/>
        </p:nvSpPr>
        <p:spPr>
          <a:xfrm>
            <a:off x="438912" y="2779776"/>
            <a:ext cx="168249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50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Angular on Cloud Run</a:t>
            </a:r>
            <a:endParaRPr lang="en-US" sz="950" dirty="0"/>
          </a:p>
        </p:txBody>
      </p:sp>
      <p:sp>
        <p:nvSpPr>
          <p:cNvPr id="15" name="arch_gw"/>
          <p:cNvSpPr/>
          <p:nvPr/>
        </p:nvSpPr>
        <p:spPr>
          <a:xfrm>
            <a:off x="2926080" y="2468880"/>
            <a:ext cx="2194560" cy="731520"/>
          </a:xfrm>
          <a:prstGeom prst="roundRect">
            <a:avLst>
              <a:gd name="adj" fmla="val 8750"/>
            </a:avLst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2999232" y="2523744"/>
            <a:ext cx="20482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5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Gemini gateway</a:t>
            </a:r>
            <a:endParaRPr lang="en-US" sz="1150" dirty="0"/>
          </a:p>
        </p:txBody>
      </p:sp>
      <p:sp>
        <p:nvSpPr>
          <p:cNvPr id="17" name="Text 15"/>
          <p:cNvSpPr txBox="1"/>
          <p:nvPr/>
        </p:nvSpPr>
        <p:spPr>
          <a:xfrm>
            <a:off x="2999232" y="2779776"/>
            <a:ext cx="20482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50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structured output,</a:t>
            </a:r>
            <a:endParaRPr lang="en-US" sz="950" dirty="0"/>
          </a:p>
          <a:p>
            <a:pPr marL="0" indent="0" algn="ctr">
              <a:buNone/>
            </a:pPr>
            <a:r>
              <a:rPr lang="en-US" sz="950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evidence-cited claims</a:t>
            </a:r>
            <a:endParaRPr lang="en-US" sz="950" dirty="0"/>
          </a:p>
        </p:txBody>
      </p:sp>
      <p:sp>
        <p:nvSpPr>
          <p:cNvPr id="18" name="arch_vertex"/>
          <p:cNvSpPr/>
          <p:nvPr/>
        </p:nvSpPr>
        <p:spPr>
          <a:xfrm>
            <a:off x="6400800" y="2468880"/>
            <a:ext cx="2377440" cy="731520"/>
          </a:xfrm>
          <a:prstGeom prst="roundRect">
            <a:avLst>
              <a:gd name="adj" fmla="val 8750"/>
            </a:avLst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6473952" y="2523744"/>
            <a:ext cx="22311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5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Vertex AI: Gemini</a:t>
            </a:r>
            <a:endParaRPr lang="en-US" sz="1150" dirty="0"/>
          </a:p>
        </p:txBody>
      </p:sp>
      <p:sp>
        <p:nvSpPr>
          <p:cNvPr id="20" name="Text 18"/>
          <p:cNvSpPr txBox="1"/>
          <p:nvPr/>
        </p:nvSpPr>
        <p:spPr>
          <a:xfrm>
            <a:off x="6473952" y="2779776"/>
            <a:ext cx="22311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50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explains and summarises.</a:t>
            </a:r>
            <a:endParaRPr lang="en-US" sz="950" dirty="0"/>
          </a:p>
          <a:p>
            <a:pPr marL="0" indent="0" algn="ctr">
              <a:buNone/>
            </a:pPr>
            <a:r>
              <a:rPr lang="en-US" sz="950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Never decides</a:t>
            </a:r>
            <a:endParaRPr lang="en-US" sz="950" dirty="0"/>
          </a:p>
        </p:txBody>
      </p:sp>
      <p:sp>
        <p:nvSpPr>
          <p:cNvPr id="21" name="arch_ws"/>
          <p:cNvSpPr/>
          <p:nvPr/>
        </p:nvSpPr>
        <p:spPr>
          <a:xfrm>
            <a:off x="365760" y="3657600"/>
            <a:ext cx="1828800" cy="548640"/>
          </a:xfrm>
          <a:prstGeom prst="roundRect">
            <a:avLst>
              <a:gd name="adj" fmla="val 11667"/>
            </a:avLst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438912" y="3712464"/>
            <a:ext cx="16824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5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Stream gateway</a:t>
            </a:r>
            <a:endParaRPr lang="en-US" sz="1150" dirty="0"/>
          </a:p>
        </p:txBody>
      </p:sp>
      <p:sp>
        <p:nvSpPr>
          <p:cNvPr id="23" name="Text 21"/>
          <p:cNvSpPr txBox="1"/>
          <p:nvPr/>
        </p:nvSpPr>
        <p:spPr>
          <a:xfrm>
            <a:off x="438912" y="3968496"/>
            <a:ext cx="16824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50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WebSocket, Cloud Run</a:t>
            </a:r>
            <a:endParaRPr lang="en-US" sz="950" dirty="0"/>
          </a:p>
        </p:txBody>
      </p:sp>
      <p:sp>
        <p:nvSpPr>
          <p:cNvPr id="24" name="arch_atlas"/>
          <p:cNvSpPr/>
          <p:nvPr/>
        </p:nvSpPr>
        <p:spPr>
          <a:xfrm>
            <a:off x="2926080" y="3657600"/>
            <a:ext cx="5852160" cy="548640"/>
          </a:xfrm>
          <a:prstGeom prst="roundRect">
            <a:avLst>
              <a:gd name="adj" fmla="val 11667"/>
            </a:avLst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2999232" y="3712464"/>
            <a:ext cx="5705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5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MongoDB Atlas on Google Cloud (asia-southeast1)</a:t>
            </a:r>
            <a:endParaRPr lang="en-US" sz="1150" dirty="0"/>
          </a:p>
        </p:txBody>
      </p:sp>
      <p:sp>
        <p:nvSpPr>
          <p:cNvPr id="26" name="Text 24"/>
          <p:cNvSpPr txBox="1"/>
          <p:nvPr/>
        </p:nvSpPr>
        <p:spPr>
          <a:xfrm>
            <a:off x="2999232" y="3968496"/>
            <a:ext cx="57058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50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system of record, change streams feed the live dashboard</a:t>
            </a:r>
            <a:endParaRPr lang="en-US" sz="950" dirty="0"/>
          </a:p>
        </p:txBody>
      </p:sp>
      <p:sp>
        <p:nvSpPr>
          <p:cNvPr id="27" name="arrow_decide"/>
          <p:cNvSpPr/>
          <p:nvPr/>
        </p:nvSpPr>
        <p:spPr>
          <a:xfrm>
            <a:off x="2194560" y="1600200"/>
            <a:ext cx="731520" cy="0"/>
          </a:xfrm>
          <a:prstGeom prst="line">
            <a:avLst/>
          </a:prstGeom>
          <a:noFill/>
          <a:ln w="19050">
            <a:solidFill>
              <a:schemeClr val="accent6"/>
            </a:solidFill>
            <a:prstDash val="solid"/>
            <a:tailEnd type="triangle"/>
          </a:ln>
        </p:spPr>
      </p:sp>
      <p:sp>
        <p:nvSpPr>
          <p:cNvPr id="28" name="Text 26"/>
          <p:cNvSpPr txBox="1"/>
          <p:nvPr/>
        </p:nvSpPr>
        <p:spPr>
          <a:xfrm>
            <a:off x="2194560" y="1389888"/>
            <a:ext cx="731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chemeClr val="accent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decide</a:t>
            </a:r>
            <a:endParaRPr lang="en-US" sz="900" dirty="0"/>
          </a:p>
        </p:txBody>
      </p:sp>
      <p:sp>
        <p:nvSpPr>
          <p:cNvPr id="29" name="arrow_events"/>
          <p:cNvSpPr/>
          <p:nvPr/>
        </p:nvSpPr>
        <p:spPr>
          <a:xfrm>
            <a:off x="5669280" y="1600200"/>
            <a:ext cx="731520" cy="0"/>
          </a:xfrm>
          <a:prstGeom prst="line">
            <a:avLst/>
          </a:prstGeom>
          <a:noFill/>
          <a:ln w="19050">
            <a:solidFill>
              <a:schemeClr val="accent6"/>
            </a:solidFill>
            <a:prstDash val="solid"/>
            <a:tailEnd type="triangle"/>
          </a:ln>
        </p:spPr>
      </p:sp>
      <p:sp>
        <p:nvSpPr>
          <p:cNvPr id="30" name="Text 28"/>
          <p:cNvSpPr txBox="1"/>
          <p:nvPr/>
        </p:nvSpPr>
        <p:spPr>
          <a:xfrm>
            <a:off x="5669280" y="1389888"/>
            <a:ext cx="731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chemeClr val="accent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events</a:t>
            </a:r>
            <a:endParaRPr lang="en-US" sz="900" dirty="0"/>
          </a:p>
        </p:txBody>
      </p:sp>
      <p:sp>
        <p:nvSpPr>
          <p:cNvPr id="31" name="arrow_"/>
          <p:cNvSpPr/>
          <p:nvPr/>
        </p:nvSpPr>
        <p:spPr>
          <a:xfrm>
            <a:off x="3657600" y="2011680"/>
            <a:ext cx="0" cy="457200"/>
          </a:xfrm>
          <a:prstGeom prst="line">
            <a:avLst/>
          </a:prstGeom>
          <a:noFill/>
          <a:ln w="19050">
            <a:solidFill>
              <a:schemeClr val="accent6"/>
            </a:solidFill>
            <a:prstDash val="solid"/>
            <a:tailEnd type="triangle"/>
          </a:ln>
        </p:spPr>
      </p:sp>
      <p:sp>
        <p:nvSpPr>
          <p:cNvPr id="32" name="arrow_evidence"/>
          <p:cNvSpPr/>
          <p:nvPr/>
        </p:nvSpPr>
        <p:spPr>
          <a:xfrm>
            <a:off x="5120640" y="2834640"/>
            <a:ext cx="1280160" cy="0"/>
          </a:xfrm>
          <a:prstGeom prst="line">
            <a:avLst/>
          </a:prstGeom>
          <a:noFill/>
          <a:ln w="19050">
            <a:solidFill>
              <a:schemeClr val="accent6"/>
            </a:solidFill>
            <a:prstDash val="solid"/>
            <a:tailEnd type="triangle"/>
          </a:ln>
        </p:spPr>
      </p:sp>
      <p:sp>
        <p:nvSpPr>
          <p:cNvPr id="33" name="Text 31"/>
          <p:cNvSpPr txBox="1"/>
          <p:nvPr/>
        </p:nvSpPr>
        <p:spPr>
          <a:xfrm>
            <a:off x="5212080" y="2624328"/>
            <a:ext cx="1097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chemeClr val="accent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evidence</a:t>
            </a:r>
            <a:endParaRPr lang="en-US" sz="900" dirty="0"/>
          </a:p>
        </p:txBody>
      </p:sp>
      <p:sp>
        <p:nvSpPr>
          <p:cNvPr id="34" name="arrow_"/>
          <p:cNvSpPr/>
          <p:nvPr/>
        </p:nvSpPr>
        <p:spPr>
          <a:xfrm>
            <a:off x="5394960" y="2011680"/>
            <a:ext cx="0" cy="1645920"/>
          </a:xfrm>
          <a:prstGeom prst="line">
            <a:avLst/>
          </a:prstGeom>
          <a:noFill/>
          <a:ln w="19050">
            <a:solidFill>
              <a:schemeClr val="accent6"/>
            </a:solidFill>
            <a:prstDash val="solid"/>
            <a:tailEnd type="triangle"/>
          </a:ln>
        </p:spPr>
      </p:sp>
      <p:sp>
        <p:nvSpPr>
          <p:cNvPr id="35" name="arrow_"/>
          <p:cNvSpPr/>
          <p:nvPr/>
        </p:nvSpPr>
        <p:spPr>
          <a:xfrm>
            <a:off x="1280160" y="3200400"/>
            <a:ext cx="0" cy="457200"/>
          </a:xfrm>
          <a:prstGeom prst="line">
            <a:avLst/>
          </a:prstGeom>
          <a:noFill/>
          <a:ln w="19050">
            <a:solidFill>
              <a:schemeClr val="accent6"/>
            </a:solidFill>
            <a:prstDash val="solid"/>
            <a:tailEnd type="triangle"/>
          </a:ln>
        </p:spPr>
      </p:sp>
      <p:sp>
        <p:nvSpPr>
          <p:cNvPr id="36" name="arrow_changes"/>
          <p:cNvSpPr/>
          <p:nvPr/>
        </p:nvSpPr>
        <p:spPr>
          <a:xfrm flipH="1">
            <a:off x="2194560" y="3931920"/>
            <a:ext cx="731520" cy="0"/>
          </a:xfrm>
          <a:prstGeom prst="line">
            <a:avLst/>
          </a:prstGeom>
          <a:noFill/>
          <a:ln w="19050">
            <a:solidFill>
              <a:schemeClr val="accent6"/>
            </a:solidFill>
            <a:prstDash val="solid"/>
            <a:tailEnd type="triangle"/>
          </a:ln>
        </p:spPr>
      </p:sp>
      <p:sp>
        <p:nvSpPr>
          <p:cNvPr id="37" name="Text 35"/>
          <p:cNvSpPr txBox="1"/>
          <p:nvPr/>
        </p:nvSpPr>
        <p:spPr>
          <a:xfrm>
            <a:off x="2194560" y="3730752"/>
            <a:ext cx="731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chemeClr val="accent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changes</a:t>
            </a:r>
            <a:endParaRPr lang="en-US" sz="900" dirty="0"/>
          </a:p>
        </p:txBody>
      </p:sp>
      <p:sp>
        <p:nvSpPr>
          <p:cNvPr id="38" name="arrow_REST"/>
          <p:cNvSpPr/>
          <p:nvPr/>
        </p:nvSpPr>
        <p:spPr>
          <a:xfrm>
            <a:off x="2194560" y="2834640"/>
            <a:ext cx="731520" cy="0"/>
          </a:xfrm>
          <a:prstGeom prst="line">
            <a:avLst/>
          </a:prstGeom>
          <a:noFill/>
          <a:ln w="19050">
            <a:solidFill>
              <a:schemeClr val="accent6"/>
            </a:solidFill>
            <a:prstDash val="solid"/>
            <a:tailEnd type="triangle"/>
          </a:ln>
        </p:spPr>
      </p:sp>
      <p:sp>
        <p:nvSpPr>
          <p:cNvPr id="39" name="Text 37"/>
          <p:cNvSpPr txBox="1"/>
          <p:nvPr/>
        </p:nvSpPr>
        <p:spPr>
          <a:xfrm>
            <a:off x="2194560" y="2624328"/>
            <a:ext cx="731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chemeClr val="accent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REST</a:t>
            </a:r>
            <a:endParaRPr lang="en-US" sz="900" dirty="0"/>
          </a:p>
        </p:txBody>
      </p:sp>
      <p:sp>
        <p:nvSpPr>
          <p:cNvPr id="40" name="Text 38"/>
          <p:cNvSpPr txBox="1"/>
          <p:nvPr/>
        </p:nvSpPr>
        <p:spPr>
          <a:xfrm>
            <a:off x="365760" y="4370832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chemeClr val="accent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Cloud Build + Artifact Registry deploy to Cloud Run on every push to main.  Secret Manager holds the Atlas connection string.  No API keys in the repo.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>
            <a:spLocks noGrp="1"/>
          </p:cNvSpPr>
          <p:nvPr>
            <p:ph type="title" idx="102" hasCustomPrompt="1"/>
          </p:nvPr>
        </p:nvSpPr>
        <p:spPr>
          <a:xfrm>
            <a:off x="365760" y="621792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Technologies to be used in the solution</a:t>
            </a:r>
            <a:endParaRPr lang="en-US" sz="2200" dirty="0"/>
          </a:p>
        </p:txBody>
      </p:sp>
      <p:sp>
        <p:nvSpPr>
          <p:cNvPr id="3" name="tech_card0"/>
          <p:cNvSpPr/>
          <p:nvPr/>
        </p:nvSpPr>
        <p:spPr>
          <a:xfrm>
            <a:off x="365760" y="1188720"/>
            <a:ext cx="2651760" cy="2926080"/>
          </a:xfrm>
          <a:prstGeom prst="roundRect">
            <a:avLst>
              <a:gd name="adj" fmla="val 3448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ch_dot0"/>
          <p:cNvSpPr/>
          <p:nvPr/>
        </p:nvSpPr>
        <p:spPr>
          <a:xfrm>
            <a:off x="548640" y="1371600"/>
            <a:ext cx="201168" cy="20116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 txBox="1"/>
          <p:nvPr/>
        </p:nvSpPr>
        <p:spPr>
          <a:xfrm>
            <a:off x="868680" y="1316736"/>
            <a:ext cx="2011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Google Cloud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1828800"/>
            <a:ext cx="233172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150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Vertex AI: Gemini, structured output</a:t>
            </a:r>
            <a:endParaRPr lang="en-US" sz="115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150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Cloud Run: UI, decision API, stream gateway, simulator job</a:t>
            </a:r>
            <a:endParaRPr lang="en-US" sz="115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150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Pub/Sub: ordered lifecycle events</a:t>
            </a:r>
            <a:endParaRPr lang="en-US" sz="115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150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Cloud Build and Artifact Registry</a:t>
            </a:r>
            <a:endParaRPr lang="en-US" sz="115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150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Secret Manager</a:t>
            </a:r>
            <a:endParaRPr lang="en-US" sz="1150" dirty="0"/>
          </a:p>
        </p:txBody>
      </p:sp>
      <p:sp>
        <p:nvSpPr>
          <p:cNvPr id="7" name="tech_card1"/>
          <p:cNvSpPr/>
          <p:nvPr/>
        </p:nvSpPr>
        <p:spPr>
          <a:xfrm>
            <a:off x="3200400" y="1188720"/>
            <a:ext cx="2651760" cy="2926080"/>
          </a:xfrm>
          <a:prstGeom prst="roundRect">
            <a:avLst>
              <a:gd name="adj" fmla="val 3448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ch_dot1"/>
          <p:cNvSpPr/>
          <p:nvPr/>
        </p:nvSpPr>
        <p:spPr>
          <a:xfrm>
            <a:off x="3383280" y="1371600"/>
            <a:ext cx="201168" cy="201168"/>
          </a:xfrm>
          <a:prstGeom prst="ellipse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 txBox="1"/>
          <p:nvPr/>
        </p:nvSpPr>
        <p:spPr>
          <a:xfrm>
            <a:off x="3703320" y="1316736"/>
            <a:ext cx="2011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</a:t>
            </a:r>
            <a:endParaRPr lang="en-US" sz="1500" dirty="0"/>
          </a:p>
        </p:txBody>
      </p:sp>
      <p:sp>
        <p:nvSpPr>
          <p:cNvPr id="10" name="Text 8"/>
          <p:cNvSpPr txBox="1"/>
          <p:nvPr/>
        </p:nvSpPr>
        <p:spPr>
          <a:xfrm>
            <a:off x="3383280" y="1828800"/>
            <a:ext cx="233172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150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Angular for the operator console</a:t>
            </a:r>
            <a:endParaRPr lang="en-US" sz="115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150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TypeScript workspaces: domain, rules, scenarios, core, stream, simulator, ui</a:t>
            </a:r>
            <a:endParaRPr lang="en-US" sz="115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150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WebSocket live stream</a:t>
            </a:r>
            <a:endParaRPr lang="en-US" sz="115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150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ESLint import-boundary rules</a:t>
            </a:r>
            <a:endParaRPr lang="en-US" sz="1150" dirty="0"/>
          </a:p>
        </p:txBody>
      </p:sp>
      <p:sp>
        <p:nvSpPr>
          <p:cNvPr id="11" name="tech_card2"/>
          <p:cNvSpPr/>
          <p:nvPr/>
        </p:nvSpPr>
        <p:spPr>
          <a:xfrm>
            <a:off x="6035040" y="1188720"/>
            <a:ext cx="2651760" cy="2926080"/>
          </a:xfrm>
          <a:prstGeom prst="roundRect">
            <a:avLst>
              <a:gd name="adj" fmla="val 3448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ch_dot2"/>
          <p:cNvSpPr/>
          <p:nvPr/>
        </p:nvSpPr>
        <p:spPr>
          <a:xfrm>
            <a:off x="6217920" y="1371600"/>
            <a:ext cx="201168" cy="201168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 txBox="1"/>
          <p:nvPr/>
        </p:nvSpPr>
        <p:spPr>
          <a:xfrm>
            <a:off x="6537960" y="1316736"/>
            <a:ext cx="2011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and quality</a:t>
            </a:r>
            <a:endParaRPr lang="en-US" sz="1500" dirty="0"/>
          </a:p>
        </p:txBody>
      </p:sp>
      <p:sp>
        <p:nvSpPr>
          <p:cNvPr id="14" name="Text 12"/>
          <p:cNvSpPr txBox="1"/>
          <p:nvPr/>
        </p:nvSpPr>
        <p:spPr>
          <a:xfrm>
            <a:off x="6217920" y="1828800"/>
            <a:ext cx="233172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150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MongoDB Atlas on Google Cloud, change streams</a:t>
            </a:r>
            <a:endParaRPr lang="en-US" sz="115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150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Bounded two-hop graph traversal</a:t>
            </a:r>
            <a:endParaRPr lang="en-US" sz="115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15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405 automated tests</a:t>
            </a:r>
            <a:endParaRPr lang="en-US" sz="115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150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Synthetic data only</a:t>
            </a:r>
            <a:endParaRPr lang="en-US" sz="1150" dirty="0"/>
          </a:p>
        </p:txBody>
      </p:sp>
      <p:sp>
        <p:nvSpPr>
          <p:cNvPr id="15" name="Text 13"/>
          <p:cNvSpPr txBox="1"/>
          <p:nvPr/>
        </p:nvSpPr>
        <p:spPr>
          <a:xfrm>
            <a:off x="365760" y="4297680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Gemini runs only from the backend with the service account's own credentials. Model IDs are configuration, not code, and the browser never sees one.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>
            <a:spLocks noGrp="1"/>
          </p:cNvSpPr>
          <p:nvPr>
            <p:ph type="title" idx="102" hasCustomPrompt="1"/>
          </p:nvPr>
        </p:nvSpPr>
        <p:spPr>
          <a:xfrm>
            <a:off x="365760" y="621792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Estimated implementation cost (optional)</a:t>
            </a:r>
            <a:endParaRPr lang="en-US" sz="22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1188720"/>
          <a:ext cx="8412480" cy="914400"/>
        </p:xfrm>
        <a:graphic>
          <a:graphicData uri="http://schemas.openxmlformats.org/drawingml/2006/table">
            <a:tbl>
              <a:tblPr/>
              <a:tblGrid>
                <a:gridCol w="24688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116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9319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chemeClr val="bg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Component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T="36576" marB="36576" anchor="ctr">
                    <a:lnL w="9525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chemeClr val="bg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Cost model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T="36576" marB="36576" anchor="ctr">
                    <a:lnL w="9525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chemeClr val="bg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How it is kept low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T="36576" marB="36576" anchor="ctr">
                    <a:lnL w="9525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Cloud Run (4 components)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T="36576" marB="36576" anchor="ctr">
                    <a:lnL w="9525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Per request and CPU time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T="36576" marB="36576" anchor="ctr">
                    <a:lnL w="9525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Scale to zero. Simulator runs as a job.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T="36576" marB="36576" anchor="ctr">
                    <a:lnL w="9525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Vertex AI: Gemini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T="36576" marB="36576" anchor="ctr">
                    <a:lnL w="9525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Per token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T="36576" marB="36576" anchor="ctr">
                    <a:lnL w="9525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Cached per assessment. Demo account pre-warmed. Never in the decision path.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T="36576" marB="36576" anchor="ctr">
                    <a:lnL w="9525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Pub/Sub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T="36576" marB="36576" anchor="ctr">
                    <a:lnL w="9525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Per volume delivered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T="36576" marB="36576" anchor="ctr">
                    <a:lnL w="9525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Lifecycle events only. The decision never waits on it.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T="36576" marB="36576" anchor="ctr">
                    <a:lnL w="9525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MongoDB Atlas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T="36576" marB="36576" anchor="ctr">
                    <a:lnL w="9525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Cluster tier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T="36576" marB="36576" anchor="ctr">
                    <a:lnL w="9525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Single deployment on synthetic data for the demo.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T="36576" marB="36576" anchor="ctr">
                    <a:lnL w="9525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Cloud Build, Artifact Registry, Secret Manager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T="36576" marB="36576" anchor="ctr">
                    <a:lnL w="9525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Small usage-based fees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T="36576" marB="36576" anchor="ctr">
                    <a:lnL w="9525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One secret. One build per push to main.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T="36576" marB="36576" anchor="ctr">
                    <a:lnL w="9525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4" name="Text 1"/>
          <p:cNvSpPr txBox="1"/>
          <p:nvPr/>
        </p:nvSpPr>
        <p:spPr>
          <a:xfrm>
            <a:off x="365760" y="4206240"/>
            <a:ext cx="8412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chemeClr val="accent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priced estimate is not included because the prototype has not been load-tested in a deployed environment. The design choices above are the main cost controls.</a:t>
            </a:r>
            <a:endParaRPr lang="en-US" sz="11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>
            <a:spLocks noGrp="1"/>
          </p:cNvSpPr>
          <p:nvPr>
            <p:ph type="title" idx="102" hasCustomPrompt="1"/>
          </p:nvPr>
        </p:nvSpPr>
        <p:spPr>
          <a:xfrm>
            <a:off x="365760" y="621792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Snapshots of the prototype (1 of 2)</a:t>
            </a:r>
            <a:endParaRPr lang="en-US" sz="2200" dirty="0"/>
          </a:p>
        </p:txBody>
      </p:sp>
      <p:pic>
        <p:nvPicPr>
          <p:cNvPr id="3" name="txns" descr="Live Transactions with policy decision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1188720"/>
            <a:ext cx="2697480" cy="1222296"/>
          </a:xfrm>
          <a:prstGeom prst="rect">
            <a:avLst/>
          </a:prstGeom>
        </p:spPr>
      </p:pic>
      <p:sp>
        <p:nvSpPr>
          <p:cNvPr id="4" name="txns_frame"/>
          <p:cNvSpPr/>
          <p:nvPr/>
        </p:nvSpPr>
        <p:spPr>
          <a:xfrm>
            <a:off x="365760" y="1188720"/>
            <a:ext cx="2697480" cy="1222296"/>
          </a:xfrm>
          <a:prstGeom prst="rect">
            <a:avLst/>
          </a:prstGeom>
          <a:ln w="9525">
            <a:solidFill>
              <a:srgbClr val="C9CED3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365760" y="2456736"/>
            <a:ext cx="2697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chemeClr val="accent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Live Transactions with policy decision</a:t>
            </a:r>
            <a:endParaRPr lang="en-US" sz="1000" dirty="0"/>
          </a:p>
        </p:txBody>
      </p:sp>
      <p:pic>
        <p:nvPicPr>
          <p:cNvPr id="6" name="invest" descr="Investigation workspace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00400" y="1188720"/>
            <a:ext cx="2697480" cy="1222296"/>
          </a:xfrm>
          <a:prstGeom prst="rect">
            <a:avLst/>
          </a:prstGeom>
        </p:spPr>
      </p:pic>
      <p:sp>
        <p:nvSpPr>
          <p:cNvPr id="7" name="invest_frame"/>
          <p:cNvSpPr/>
          <p:nvPr/>
        </p:nvSpPr>
        <p:spPr>
          <a:xfrm>
            <a:off x="3200400" y="1188720"/>
            <a:ext cx="2697480" cy="1222296"/>
          </a:xfrm>
          <a:prstGeom prst="rect">
            <a:avLst/>
          </a:prstGeom>
          <a:ln w="9525">
            <a:solidFill>
              <a:srgbClr val="C9CED3"/>
            </a:solidFill>
            <a:prstDash val="solid"/>
          </a:ln>
        </p:spPr>
      </p:sp>
      <p:sp>
        <p:nvSpPr>
          <p:cNvPr id="8" name="Text 4"/>
          <p:cNvSpPr txBox="1"/>
          <p:nvPr/>
        </p:nvSpPr>
        <p:spPr>
          <a:xfrm>
            <a:off x="3200400" y="2456736"/>
            <a:ext cx="2697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chemeClr val="accent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Investigation workspace</a:t>
            </a:r>
            <a:endParaRPr lang="en-US" sz="1000" dirty="0"/>
          </a:p>
        </p:txBody>
      </p:sp>
      <p:pic>
        <p:nvPicPr>
          <p:cNvPr id="9" name="explain_done" descr="Gemini score explanation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35040" y="1188720"/>
            <a:ext cx="2697480" cy="1222296"/>
          </a:xfrm>
          <a:prstGeom prst="rect">
            <a:avLst/>
          </a:prstGeom>
        </p:spPr>
      </p:pic>
      <p:sp>
        <p:nvSpPr>
          <p:cNvPr id="10" name="explain_done_frame"/>
          <p:cNvSpPr/>
          <p:nvPr/>
        </p:nvSpPr>
        <p:spPr>
          <a:xfrm>
            <a:off x="6035040" y="1188720"/>
            <a:ext cx="2697480" cy="1222296"/>
          </a:xfrm>
          <a:prstGeom prst="rect">
            <a:avLst/>
          </a:prstGeom>
          <a:ln w="9525">
            <a:solidFill>
              <a:srgbClr val="C9CED3"/>
            </a:solidFill>
            <a:prstDash val="solid"/>
          </a:ln>
        </p:spPr>
      </p:sp>
      <p:sp>
        <p:nvSpPr>
          <p:cNvPr id="11" name="Text 6"/>
          <p:cNvSpPr txBox="1"/>
          <p:nvPr/>
        </p:nvSpPr>
        <p:spPr>
          <a:xfrm>
            <a:off x="6035040" y="2456736"/>
            <a:ext cx="2697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chemeClr val="accent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Gemini score explanation</a:t>
            </a:r>
            <a:endParaRPr lang="en-US" sz="1000" dirty="0"/>
          </a:p>
        </p:txBody>
      </p:sp>
      <p:pic>
        <p:nvPicPr>
          <p:cNvPr id="12" name="summary_done" descr="Gemini case summary with evidence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65760" y="3017520"/>
            <a:ext cx="2697480" cy="1222296"/>
          </a:xfrm>
          <a:prstGeom prst="rect">
            <a:avLst/>
          </a:prstGeom>
        </p:spPr>
      </p:pic>
      <p:sp>
        <p:nvSpPr>
          <p:cNvPr id="13" name="summary_done_frame"/>
          <p:cNvSpPr/>
          <p:nvPr/>
        </p:nvSpPr>
        <p:spPr>
          <a:xfrm>
            <a:off x="365760" y="3017520"/>
            <a:ext cx="2697480" cy="1222296"/>
          </a:xfrm>
          <a:prstGeom prst="rect">
            <a:avLst/>
          </a:prstGeom>
          <a:ln w="9525">
            <a:solidFill>
              <a:srgbClr val="C9CED3"/>
            </a:solidFill>
            <a:prstDash val="solid"/>
          </a:ln>
        </p:spPr>
      </p:sp>
      <p:sp>
        <p:nvSpPr>
          <p:cNvPr id="14" name="Text 8"/>
          <p:cNvSpPr txBox="1"/>
          <p:nvPr/>
        </p:nvSpPr>
        <p:spPr>
          <a:xfrm>
            <a:off x="365760" y="4285536"/>
            <a:ext cx="2697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chemeClr val="accent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Gemini case summary with evidence</a:t>
            </a:r>
            <a:endParaRPr lang="en-US" sz="1000" dirty="0"/>
          </a:p>
        </p:txBody>
      </p:sp>
      <p:pic>
        <p:nvPicPr>
          <p:cNvPr id="15" name="network" descr="Transaction &amp; entity network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200400" y="3017520"/>
            <a:ext cx="2697480" cy="1222296"/>
          </a:xfrm>
          <a:prstGeom prst="rect">
            <a:avLst/>
          </a:prstGeom>
        </p:spPr>
      </p:pic>
      <p:sp>
        <p:nvSpPr>
          <p:cNvPr id="16" name="network_frame"/>
          <p:cNvSpPr/>
          <p:nvPr/>
        </p:nvSpPr>
        <p:spPr>
          <a:xfrm>
            <a:off x="3200400" y="3017520"/>
            <a:ext cx="2697480" cy="1222296"/>
          </a:xfrm>
          <a:prstGeom prst="rect">
            <a:avLst/>
          </a:prstGeom>
          <a:ln w="9525">
            <a:solidFill>
              <a:srgbClr val="C9CED3"/>
            </a:solidFill>
            <a:prstDash val="solid"/>
          </a:ln>
        </p:spPr>
      </p:sp>
      <p:sp>
        <p:nvSpPr>
          <p:cNvPr id="17" name="Text 10"/>
          <p:cNvSpPr txBox="1"/>
          <p:nvPr/>
        </p:nvSpPr>
        <p:spPr>
          <a:xfrm>
            <a:off x="3200400" y="4285536"/>
            <a:ext cx="2697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chemeClr val="accent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Transaction &amp; entity network</a:t>
            </a:r>
            <a:endParaRPr lang="en-US" sz="1000" dirty="0"/>
          </a:p>
        </p:txBody>
      </p:sp>
      <p:pic>
        <p:nvPicPr>
          <p:cNvPr id="18" name="accounts" descr="Account monitoring &amp; intelligence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035040" y="3017520"/>
            <a:ext cx="2697480" cy="1222296"/>
          </a:xfrm>
          <a:prstGeom prst="rect">
            <a:avLst/>
          </a:prstGeom>
        </p:spPr>
      </p:pic>
      <p:sp>
        <p:nvSpPr>
          <p:cNvPr id="19" name="accounts_frame"/>
          <p:cNvSpPr/>
          <p:nvPr/>
        </p:nvSpPr>
        <p:spPr>
          <a:xfrm>
            <a:off x="6035040" y="3017520"/>
            <a:ext cx="2697480" cy="1222296"/>
          </a:xfrm>
          <a:prstGeom prst="rect">
            <a:avLst/>
          </a:prstGeom>
          <a:ln w="9525">
            <a:solidFill>
              <a:srgbClr val="C9CED3"/>
            </a:solidFill>
            <a:prstDash val="solid"/>
          </a:ln>
        </p:spPr>
      </p:sp>
      <p:sp>
        <p:nvSpPr>
          <p:cNvPr id="20" name="Text 12"/>
          <p:cNvSpPr txBox="1"/>
          <p:nvPr/>
        </p:nvSpPr>
        <p:spPr>
          <a:xfrm>
            <a:off x="6035040" y="4285536"/>
            <a:ext cx="2697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chemeClr val="accent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Account monitoring &amp; intelligence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>
            <a:spLocks noGrp="1"/>
          </p:cNvSpPr>
          <p:nvPr>
            <p:ph type="title" idx="102" hasCustomPrompt="1"/>
          </p:nvPr>
        </p:nvSpPr>
        <p:spPr>
          <a:xfrm>
            <a:off x="365760" y="621792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Snapshots of the prototype (2 of 2)</a:t>
            </a:r>
            <a:endParaRPr lang="en-US" sz="2200" dirty="0"/>
          </a:p>
        </p:txBody>
      </p:sp>
      <p:pic>
        <p:nvPicPr>
          <p:cNvPr id="3" name="interv" descr="Intervention management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1188720"/>
            <a:ext cx="2697480" cy="1222296"/>
          </a:xfrm>
          <a:prstGeom prst="rect">
            <a:avLst/>
          </a:prstGeom>
        </p:spPr>
      </p:pic>
      <p:sp>
        <p:nvSpPr>
          <p:cNvPr id="4" name="interv_frame"/>
          <p:cNvSpPr/>
          <p:nvPr/>
        </p:nvSpPr>
        <p:spPr>
          <a:xfrm>
            <a:off x="365760" y="1188720"/>
            <a:ext cx="2697480" cy="1222296"/>
          </a:xfrm>
          <a:prstGeom prst="rect">
            <a:avLst/>
          </a:prstGeom>
          <a:ln w="9525">
            <a:solidFill>
              <a:srgbClr val="C9CED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2"/>
          <p:cNvSpPr txBox="1"/>
          <p:nvPr/>
        </p:nvSpPr>
        <p:spPr>
          <a:xfrm>
            <a:off x="365760" y="2456736"/>
            <a:ext cx="2697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chemeClr val="accent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Intervention management</a:t>
            </a:r>
            <a:endParaRPr lang="en-US" sz="1000" dirty="0"/>
          </a:p>
        </p:txBody>
      </p:sp>
      <p:pic>
        <p:nvPicPr>
          <p:cNvPr id="6" name="rules" descr="Policies &amp; Rules: policy gate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00400" y="1188720"/>
            <a:ext cx="2697480" cy="1222296"/>
          </a:xfrm>
          <a:prstGeom prst="rect">
            <a:avLst/>
          </a:prstGeom>
        </p:spPr>
      </p:pic>
      <p:sp>
        <p:nvSpPr>
          <p:cNvPr id="7" name="rules_frame"/>
          <p:cNvSpPr/>
          <p:nvPr/>
        </p:nvSpPr>
        <p:spPr>
          <a:xfrm>
            <a:off x="3200400" y="1188720"/>
            <a:ext cx="2697480" cy="1222296"/>
          </a:xfrm>
          <a:prstGeom prst="rect">
            <a:avLst/>
          </a:prstGeom>
          <a:ln w="9525">
            <a:solidFill>
              <a:srgbClr val="C9CED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4"/>
          <p:cNvSpPr txBox="1"/>
          <p:nvPr/>
        </p:nvSpPr>
        <p:spPr>
          <a:xfrm>
            <a:off x="3200400" y="2456736"/>
            <a:ext cx="2697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chemeClr val="accent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Policies &amp; Rules: policy gate</a:t>
            </a:r>
            <a:endParaRPr lang="en-US" sz="1000" dirty="0"/>
          </a:p>
        </p:txBody>
      </p:sp>
      <p:pic>
        <p:nvPicPr>
          <p:cNvPr id="9" name="analytics" descr="Analytics &amp; Reports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35040" y="1188720"/>
            <a:ext cx="2697480" cy="1222296"/>
          </a:xfrm>
          <a:prstGeom prst="rect">
            <a:avLst/>
          </a:prstGeom>
        </p:spPr>
      </p:pic>
      <p:sp>
        <p:nvSpPr>
          <p:cNvPr id="10" name="analytics_frame"/>
          <p:cNvSpPr/>
          <p:nvPr/>
        </p:nvSpPr>
        <p:spPr>
          <a:xfrm>
            <a:off x="6035040" y="1188720"/>
            <a:ext cx="2697480" cy="1222296"/>
          </a:xfrm>
          <a:prstGeom prst="rect">
            <a:avLst/>
          </a:prstGeom>
          <a:ln w="9525">
            <a:solidFill>
              <a:srgbClr val="C9CED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6"/>
          <p:cNvSpPr txBox="1"/>
          <p:nvPr/>
        </p:nvSpPr>
        <p:spPr>
          <a:xfrm>
            <a:off x="6035040" y="2456736"/>
            <a:ext cx="2697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chemeClr val="accent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Analytics &amp; Reports</a:t>
            </a:r>
            <a:endParaRPr lang="en-US" sz="1000" dirty="0"/>
          </a:p>
        </p:txBody>
      </p:sp>
      <p:sp>
        <p:nvSpPr>
          <p:cNvPr id="14" name="Text 8"/>
          <p:cNvSpPr txBox="1"/>
          <p:nvPr/>
        </p:nvSpPr>
        <p:spPr>
          <a:xfrm>
            <a:off x="365760" y="4285536"/>
            <a:ext cx="2697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>
                <a:solidFill>
                  <a:schemeClr val="accent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Case report with sign-off</a:t>
            </a:r>
            <a:endParaRPr lang="en-US" sz="1000" dirty="0"/>
          </a:p>
        </p:txBody>
      </p:sp>
      <p:pic>
        <p:nvPicPr>
          <p:cNvPr id="15" name="integr" descr="Integrations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200400" y="3017520"/>
            <a:ext cx="2697480" cy="1222296"/>
          </a:xfrm>
          <a:prstGeom prst="rect">
            <a:avLst/>
          </a:prstGeom>
        </p:spPr>
      </p:pic>
      <p:sp>
        <p:nvSpPr>
          <p:cNvPr id="16" name="integr_frame"/>
          <p:cNvSpPr/>
          <p:nvPr/>
        </p:nvSpPr>
        <p:spPr>
          <a:xfrm>
            <a:off x="3200400" y="3017520"/>
            <a:ext cx="2697480" cy="1222296"/>
          </a:xfrm>
          <a:prstGeom prst="rect">
            <a:avLst/>
          </a:prstGeom>
          <a:ln w="9525">
            <a:solidFill>
              <a:srgbClr val="C9CED3"/>
            </a:solidFill>
            <a:prstDash val="solid"/>
          </a:ln>
        </p:spPr>
      </p:sp>
      <p:sp>
        <p:nvSpPr>
          <p:cNvPr id="17" name="Text 10"/>
          <p:cNvSpPr txBox="1"/>
          <p:nvPr/>
        </p:nvSpPr>
        <p:spPr>
          <a:xfrm>
            <a:off x="3200400" y="4285536"/>
            <a:ext cx="2697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chemeClr val="accent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Integrations</a:t>
            </a:r>
            <a:endParaRPr lang="en-US" sz="1000" dirty="0"/>
          </a:p>
        </p:txBody>
      </p:sp>
      <p:pic>
        <p:nvPicPr>
          <p:cNvPr id="18" name="audit" descr="Audit logs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035040" y="3017520"/>
            <a:ext cx="2697480" cy="1222296"/>
          </a:xfrm>
          <a:prstGeom prst="rect">
            <a:avLst/>
          </a:prstGeom>
        </p:spPr>
      </p:pic>
      <p:sp>
        <p:nvSpPr>
          <p:cNvPr id="19" name="audit_frame"/>
          <p:cNvSpPr/>
          <p:nvPr/>
        </p:nvSpPr>
        <p:spPr>
          <a:xfrm>
            <a:off x="6035040" y="3017520"/>
            <a:ext cx="2697480" cy="1222296"/>
          </a:xfrm>
          <a:prstGeom prst="rect">
            <a:avLst/>
          </a:prstGeom>
          <a:ln w="9525">
            <a:solidFill>
              <a:srgbClr val="C9CED3"/>
            </a:solidFill>
            <a:prstDash val="solid"/>
          </a:ln>
        </p:spPr>
      </p:sp>
      <p:sp>
        <p:nvSpPr>
          <p:cNvPr id="20" name="Text 12"/>
          <p:cNvSpPr txBox="1"/>
          <p:nvPr/>
        </p:nvSpPr>
        <p:spPr>
          <a:xfrm>
            <a:off x="6035040" y="4285536"/>
            <a:ext cx="2697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chemeClr val="accent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Audit logs</a:t>
            </a:r>
            <a:endParaRPr lang="en-US" sz="1000" dirty="0"/>
          </a:p>
        </p:txBody>
      </p:sp>
      <p:pic>
        <p:nvPicPr>
          <p:cNvPr id="22" name="cases">
            <a:extLst>
              <a:ext uri="{FF2B5EF4-FFF2-40B4-BE49-F238E27FC236}">
                <a16:creationId xmlns:a16="http://schemas.microsoft.com/office/drawing/2014/main" id="{5D5683DF-3473-504C-F0BF-983492B9B231}"/>
              </a:ext>
            </a:extLst>
          </p:cNvPr>
          <p:cNvPicPr>
            <a:picLocks/>
          </p:cNvPicPr>
          <p:nvPr/>
        </p:nvPicPr>
        <p:blipFill>
          <a:blip r:embed="rId8"/>
          <a:srcRect b="19444"/>
          <a:stretch>
            <a:fillRect/>
          </a:stretch>
        </p:blipFill>
        <p:spPr>
          <a:xfrm>
            <a:off x="365760" y="3017520"/>
            <a:ext cx="2697480" cy="1222296"/>
          </a:xfrm>
          <a:prstGeom prst="rect">
            <a:avLst/>
          </a:prstGeom>
        </p:spPr>
      </p:pic>
      <p:sp>
        <p:nvSpPr>
          <p:cNvPr id="13" name="perf_frame"/>
          <p:cNvSpPr/>
          <p:nvPr/>
        </p:nvSpPr>
        <p:spPr>
          <a:xfrm>
            <a:off x="365760" y="3017520"/>
            <a:ext cx="2697480" cy="1222296"/>
          </a:xfrm>
          <a:prstGeom prst="rect">
            <a:avLst/>
          </a:prstGeom>
          <a:ln w="9525">
            <a:solidFill>
              <a:srgbClr val="C9CED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>
            <a:spLocks noGrp="1"/>
          </p:cNvSpPr>
          <p:nvPr>
            <p:ph type="title" idx="102" hasCustomPrompt="1"/>
          </p:nvPr>
        </p:nvSpPr>
        <p:spPr>
          <a:xfrm>
            <a:off x="365760" y="621792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Prototype Performance report/Benchmarking</a:t>
            </a:r>
            <a:endParaRPr lang="en-US" sz="2200" dirty="0"/>
          </a:p>
        </p:txBody>
      </p:sp>
      <p:sp>
        <p:nvSpPr>
          <p:cNvPr id="3" name="stat_card0"/>
          <p:cNvSpPr/>
          <p:nvPr/>
        </p:nvSpPr>
        <p:spPr>
          <a:xfrm>
            <a:off x="365760" y="1188720"/>
            <a:ext cx="1371600" cy="1188720"/>
          </a:xfrm>
          <a:prstGeom prst="roundRect">
            <a:avLst>
              <a:gd name="adj" fmla="val 6154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 txBox="1"/>
          <p:nvPr/>
        </p:nvSpPr>
        <p:spPr>
          <a:xfrm>
            <a:off x="365760" y="1243584"/>
            <a:ext cx="1371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b="1">
                <a:solidFill>
                  <a:schemeClr val="accent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405</a:t>
            </a:r>
            <a:endParaRPr lang="en-US" sz="32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1810512"/>
            <a:ext cx="1188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00" dirty="0">
                <a:solidFill>
                  <a:schemeClr val="accent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automated tests passed</a:t>
            </a:r>
            <a:endParaRPr lang="en-US" sz="1000" dirty="0"/>
          </a:p>
        </p:txBody>
      </p:sp>
      <p:sp>
        <p:nvSpPr>
          <p:cNvPr id="6" name="stat_card1"/>
          <p:cNvSpPr/>
          <p:nvPr/>
        </p:nvSpPr>
        <p:spPr>
          <a:xfrm>
            <a:off x="1847088" y="1188720"/>
            <a:ext cx="1371600" cy="1188720"/>
          </a:xfrm>
          <a:prstGeom prst="roundRect">
            <a:avLst>
              <a:gd name="adj" fmla="val 6154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 txBox="1"/>
          <p:nvPr/>
        </p:nvSpPr>
        <p:spPr>
          <a:xfrm>
            <a:off x="1847088" y="1243584"/>
            <a:ext cx="1371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b="1">
                <a:solidFill>
                  <a:schemeClr val="accent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22</a:t>
            </a:r>
            <a:endParaRPr lang="en-US" sz="3200" dirty="0"/>
          </a:p>
        </p:txBody>
      </p:sp>
      <p:sp>
        <p:nvSpPr>
          <p:cNvPr id="8" name="Text 6"/>
          <p:cNvSpPr txBox="1"/>
          <p:nvPr/>
        </p:nvSpPr>
        <p:spPr>
          <a:xfrm>
            <a:off x="1938528" y="1810512"/>
            <a:ext cx="1188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00">
                <a:solidFill>
                  <a:schemeClr val="accent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control-path scenario tests</a:t>
            </a:r>
            <a:endParaRPr lang="en-US" sz="1000" dirty="0"/>
          </a:p>
        </p:txBody>
      </p:sp>
      <p:sp>
        <p:nvSpPr>
          <p:cNvPr id="9" name="stat_card2"/>
          <p:cNvSpPr/>
          <p:nvPr/>
        </p:nvSpPr>
        <p:spPr>
          <a:xfrm>
            <a:off x="3328416" y="1188720"/>
            <a:ext cx="1371600" cy="1188720"/>
          </a:xfrm>
          <a:prstGeom prst="roundRect">
            <a:avLst>
              <a:gd name="adj" fmla="val 6154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 txBox="1"/>
          <p:nvPr/>
        </p:nvSpPr>
        <p:spPr>
          <a:xfrm>
            <a:off x="3328416" y="1243584"/>
            <a:ext cx="1371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chemeClr val="accent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</a:t>
            </a:r>
            <a:endParaRPr lang="en-US" sz="3200" dirty="0"/>
          </a:p>
        </p:txBody>
      </p:sp>
      <p:sp>
        <p:nvSpPr>
          <p:cNvPr id="11" name="Text 9"/>
          <p:cNvSpPr txBox="1"/>
          <p:nvPr/>
        </p:nvSpPr>
        <p:spPr>
          <a:xfrm>
            <a:off x="3419856" y="1810512"/>
            <a:ext cx="1188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00" dirty="0">
                <a:solidFill>
                  <a:schemeClr val="accent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language-model calls in the decision path</a:t>
            </a:r>
            <a:endParaRPr lang="en-US" sz="1000" dirty="0"/>
          </a:p>
        </p:txBody>
      </p:sp>
      <p:graphicFrame>
        <p:nvGraphicFramePr>
          <p:cNvPr id="12" name="Chart 0"/>
          <p:cNvGraphicFramePr/>
          <p:nvPr>
            <p:extLst>
              <p:ext uri="{D42A27DB-BD31-4B8C-83A1-F6EECF244321}">
                <p14:modId xmlns:p14="http://schemas.microsoft.com/office/powerpoint/2010/main" val="170627299"/>
              </p:ext>
            </p:extLst>
          </p:nvPr>
        </p:nvGraphicFramePr>
        <p:xfrm>
          <a:off x="365760" y="2514600"/>
          <a:ext cx="4434840" cy="2286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13" name="Text 10"/>
          <p:cNvSpPr txBox="1"/>
          <p:nvPr/>
        </p:nvSpPr>
        <p:spPr>
          <a:xfrm>
            <a:off x="5029200" y="118872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was verified</a:t>
            </a:r>
            <a:endParaRPr lang="en-US" sz="1300" dirty="0"/>
          </a:p>
        </p:txBody>
      </p:sp>
      <p:sp>
        <p:nvSpPr>
          <p:cNvPr id="14" name="Text 11"/>
          <p:cNvSpPr txBox="1"/>
          <p:nvPr/>
        </p:nvSpPr>
        <p:spPr>
          <a:xfrm>
            <a:off x="5029200" y="1508760"/>
            <a:ext cx="374904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npm run verify passed on 19 Oct 2026: typecheck, lint, tests and builds for all workspaces</a:t>
            </a:r>
            <a:endParaRPr lang="en-US" sz="11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Takeover repeats identically; seeded noise scores ELEVATED and never reaches HOLD</a:t>
            </a:r>
            <a:endParaRPr lang="en-US" sz="11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Cross-bank reads are refused (403) and audited before any model call</a:t>
            </a:r>
            <a:endParaRPr lang="en-US" sz="11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Checked live: signed case report to PDF, fund trace, kill switch, bank lens</a:t>
            </a:r>
            <a:endParaRPr lang="en-US" sz="1100" dirty="0"/>
          </a:p>
        </p:txBody>
      </p:sp>
      <p:sp>
        <p:nvSpPr>
          <p:cNvPr id="15" name="Text 12"/>
          <p:cNvSpPr txBox="1"/>
          <p:nvPr/>
        </p:nvSpPr>
        <p:spPr>
          <a:xfrm>
            <a:off x="5029200" y="329184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>
                <a:solidFill>
                  <a:schemeClr val="accent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Measured locally, not yet deployed</a:t>
            </a:r>
            <a:endParaRPr lang="en-US" sz="1300" dirty="0"/>
          </a:p>
        </p:txBody>
      </p:sp>
      <p:sp>
        <p:nvSpPr>
          <p:cNvPr id="16" name="Text 13"/>
          <p:cNvSpPr txBox="1"/>
          <p:nvPr/>
        </p:nvSpPr>
        <p:spPr>
          <a:xfrm>
            <a:off x="5029200" y="3611880"/>
            <a:ext cx="37490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Laptop to remote Atlas: decision API p95 about 1.0 s and graph query p95 about 0.6 s, above the 80 ms and 150 ms targets. Deployed and Gemini timings are not yet measured.</a:t>
            </a:r>
            <a:endParaRPr lang="en-US" sz="11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>
            <a:spLocks noGrp="1"/>
          </p:cNvSpPr>
          <p:nvPr>
            <p:ph type="title" idx="102" hasCustomPrompt="1"/>
          </p:nvPr>
        </p:nvSpPr>
        <p:spPr>
          <a:xfrm>
            <a:off x="365760" y="621792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Additional Details/Future Development</a:t>
            </a:r>
            <a:endParaRPr lang="en-US" sz="2200" dirty="0"/>
          </a:p>
        </p:txBody>
      </p:sp>
      <p:sp>
        <p:nvSpPr>
          <p:cNvPr id="3" name="future_card0"/>
          <p:cNvSpPr/>
          <p:nvPr/>
        </p:nvSpPr>
        <p:spPr>
          <a:xfrm>
            <a:off x="365760" y="1188720"/>
            <a:ext cx="4114800" cy="850392"/>
          </a:xfrm>
          <a:prstGeom prst="roundRect">
            <a:avLst>
              <a:gd name="adj" fmla="val 8602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 txBox="1"/>
          <p:nvPr/>
        </p:nvSpPr>
        <p:spPr>
          <a:xfrm>
            <a:off x="548640" y="1261872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b="1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Per-tenant sign-in</a:t>
            </a:r>
            <a:endParaRPr lang="en-US" sz="125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536192"/>
            <a:ext cx="3749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>
                <a:solidFill>
                  <a:schemeClr val="accent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bank lens is enforced by the API and the stream today; next, derive it from a per-tenant identity provider.</a:t>
            </a:r>
            <a:endParaRPr lang="en-US" sz="1050" dirty="0"/>
          </a:p>
        </p:txBody>
      </p:sp>
      <p:sp>
        <p:nvSpPr>
          <p:cNvPr id="6" name="future_card1"/>
          <p:cNvSpPr/>
          <p:nvPr/>
        </p:nvSpPr>
        <p:spPr>
          <a:xfrm>
            <a:off x="4617720" y="1188720"/>
            <a:ext cx="4114800" cy="850392"/>
          </a:xfrm>
          <a:prstGeom prst="roundRect">
            <a:avLst>
              <a:gd name="adj" fmla="val 8602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 txBox="1"/>
          <p:nvPr/>
        </p:nvSpPr>
        <p:spPr>
          <a:xfrm>
            <a:off x="4800600" y="1261872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b="1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Scenario launcher in the cloud</a:t>
            </a:r>
            <a:endParaRPr lang="en-US" sz="1250" dirty="0"/>
          </a:p>
        </p:txBody>
      </p:sp>
      <p:sp>
        <p:nvSpPr>
          <p:cNvPr id="8" name="Text 6"/>
          <p:cNvSpPr txBox="1"/>
          <p:nvPr/>
        </p:nvSpPr>
        <p:spPr>
          <a:xfrm>
            <a:off x="4800600" y="1536192"/>
            <a:ext cx="3749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>
                <a:solidFill>
                  <a:schemeClr val="accent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Built for local runs and the Cloud Run Job; next, operator sign-in and the job invoker permission.</a:t>
            </a:r>
            <a:endParaRPr lang="en-US" sz="1050" dirty="0"/>
          </a:p>
        </p:txBody>
      </p:sp>
      <p:sp>
        <p:nvSpPr>
          <p:cNvPr id="9" name="future_card2"/>
          <p:cNvSpPr/>
          <p:nvPr/>
        </p:nvSpPr>
        <p:spPr>
          <a:xfrm>
            <a:off x="365760" y="2148840"/>
            <a:ext cx="4114800" cy="850392"/>
          </a:xfrm>
          <a:prstGeom prst="roundRect">
            <a:avLst>
              <a:gd name="adj" fmla="val 8602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 txBox="1"/>
          <p:nvPr/>
        </p:nvSpPr>
        <p:spPr>
          <a:xfrm>
            <a:off x="548640" y="2221992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Browser end-to-end coverage</a:t>
            </a:r>
            <a:endParaRPr lang="en-US" sz="1250" dirty="0"/>
          </a:p>
        </p:txBody>
      </p:sp>
      <p:sp>
        <p:nvSpPr>
          <p:cNvPr id="11" name="Text 9"/>
          <p:cNvSpPr txBox="1"/>
          <p:nvPr/>
        </p:nvSpPr>
        <p:spPr>
          <a:xfrm>
            <a:off x="548640" y="2496312"/>
            <a:ext cx="3749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>
                <a:solidFill>
                  <a:schemeClr val="accent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Automated browser tests for case reports, lens switching, themes and responsive sizes.</a:t>
            </a:r>
            <a:endParaRPr lang="en-US" sz="1050" dirty="0"/>
          </a:p>
        </p:txBody>
      </p:sp>
      <p:sp>
        <p:nvSpPr>
          <p:cNvPr id="12" name="future_card3"/>
          <p:cNvSpPr/>
          <p:nvPr/>
        </p:nvSpPr>
        <p:spPr>
          <a:xfrm>
            <a:off x="4617720" y="2148840"/>
            <a:ext cx="4114800" cy="850392"/>
          </a:xfrm>
          <a:prstGeom prst="roundRect">
            <a:avLst>
              <a:gd name="adj" fmla="val 8602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 txBox="1"/>
          <p:nvPr/>
        </p:nvSpPr>
        <p:spPr>
          <a:xfrm>
            <a:off x="4800600" y="2221992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b="1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Meet latency targets</a:t>
            </a:r>
            <a:endParaRPr lang="en-US" sz="1250" dirty="0"/>
          </a:p>
        </p:txBody>
      </p:sp>
      <p:sp>
        <p:nvSpPr>
          <p:cNvPr id="14" name="Text 12"/>
          <p:cNvSpPr txBox="1"/>
          <p:nvPr/>
        </p:nvSpPr>
        <p:spPr>
          <a:xfrm>
            <a:off x="4800600" y="2496312"/>
            <a:ext cx="3749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>
                <a:solidFill>
                  <a:schemeClr val="accent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performance panel now measures; next, cache graph queries and benchmark in region.</a:t>
            </a:r>
            <a:endParaRPr lang="en-US" sz="1050" dirty="0"/>
          </a:p>
        </p:txBody>
      </p:sp>
      <p:sp>
        <p:nvSpPr>
          <p:cNvPr id="15" name="future_card4"/>
          <p:cNvSpPr/>
          <p:nvPr/>
        </p:nvSpPr>
        <p:spPr>
          <a:xfrm>
            <a:off x="365760" y="3108960"/>
            <a:ext cx="4114800" cy="850392"/>
          </a:xfrm>
          <a:prstGeom prst="roundRect">
            <a:avLst>
              <a:gd name="adj" fmla="val 8602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 txBox="1"/>
          <p:nvPr/>
        </p:nvSpPr>
        <p:spPr>
          <a:xfrm>
            <a:off x="548640" y="3182112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Deployment and Gemini verification</a:t>
            </a:r>
            <a:endParaRPr lang="en-US" sz="1250" dirty="0"/>
          </a:p>
        </p:txBody>
      </p:sp>
      <p:sp>
        <p:nvSpPr>
          <p:cNvPr id="17" name="Text 15"/>
          <p:cNvSpPr txBox="1"/>
          <p:nvPr/>
        </p:nvSpPr>
        <p:spPr>
          <a:xfrm>
            <a:off x="548640" y="3456432"/>
            <a:ext cx="3749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chemeClr val="accent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Load and latency checks in an authorized cloud environment.</a:t>
            </a:r>
            <a:endParaRPr lang="en-US" sz="1050" dirty="0"/>
          </a:p>
        </p:txBody>
      </p:sp>
      <p:sp>
        <p:nvSpPr>
          <p:cNvPr id="18" name="future_card5"/>
          <p:cNvSpPr/>
          <p:nvPr/>
        </p:nvSpPr>
        <p:spPr>
          <a:xfrm>
            <a:off x="4617720" y="3108960"/>
            <a:ext cx="4114800" cy="850392"/>
          </a:xfrm>
          <a:prstGeom prst="roundRect">
            <a:avLst>
              <a:gd name="adj" fmla="val 8602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 txBox="1"/>
          <p:nvPr/>
        </p:nvSpPr>
        <p:spPr>
          <a:xfrm>
            <a:off x="4800600" y="3182112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b="1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Gemini outage drill</a:t>
            </a:r>
            <a:endParaRPr lang="en-US" sz="1250" dirty="0"/>
          </a:p>
        </p:txBody>
      </p:sp>
      <p:sp>
        <p:nvSpPr>
          <p:cNvPr id="20" name="Text 18"/>
          <p:cNvSpPr txBox="1"/>
          <p:nvPr/>
        </p:nvSpPr>
        <p:spPr>
          <a:xfrm>
            <a:off x="4800600" y="3456432"/>
            <a:ext cx="3749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>
                <a:solidFill>
                  <a:schemeClr val="accent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control that shows holds and audit continuing while the model is unavailable.</a:t>
            </a:r>
            <a:endParaRPr lang="en-US" sz="1050" dirty="0"/>
          </a:p>
        </p:txBody>
      </p:sp>
      <p:sp>
        <p:nvSpPr>
          <p:cNvPr id="21" name="Text 19"/>
          <p:cNvSpPr txBox="1"/>
          <p:nvPr/>
        </p:nvSpPr>
        <p:spPr>
          <a:xfrm>
            <a:off x="365760" y="4206240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Scope note: all institutions and data are synthetic. No real bank or COSMIC integration is claimed.</a:t>
            </a:r>
            <a:endParaRPr lang="en-US" sz="11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>
            <a:spLocks noGrp="1"/>
          </p:cNvSpPr>
          <p:nvPr>
            <p:ph type="title" idx="102" hasCustomPrompt="1"/>
          </p:nvPr>
        </p:nvSpPr>
        <p:spPr>
          <a:xfrm>
            <a:off x="365760" y="621792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Provide links to your:</a:t>
            </a:r>
            <a:endParaRPr lang="en-US" sz="2200" dirty="0"/>
          </a:p>
        </p:txBody>
      </p:sp>
      <p:sp>
        <p:nvSpPr>
          <p:cNvPr id="3" name="link_card0"/>
          <p:cNvSpPr/>
          <p:nvPr/>
        </p:nvSpPr>
        <p:spPr>
          <a:xfrm>
            <a:off x="365760" y="1280160"/>
            <a:ext cx="8412480" cy="822960"/>
          </a:xfrm>
          <a:prstGeom prst="roundRect">
            <a:avLst>
              <a:gd name="adj" fmla="val 8889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594360" y="1371600"/>
            <a:ext cx="7955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GitHub Public Repository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594360" y="1691640"/>
            <a:ext cx="7955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u="sng" dirty="0">
                <a:solidFill>
                  <a:schemeClr val="accent1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https://github.com/Mohammed-Ilyas-AI/Sential-AI</a:t>
            </a:r>
            <a:endParaRPr lang="en-US" sz="1300" dirty="0"/>
          </a:p>
        </p:txBody>
      </p:sp>
      <p:sp>
        <p:nvSpPr>
          <p:cNvPr id="6" name="link_card1"/>
          <p:cNvSpPr/>
          <p:nvPr/>
        </p:nvSpPr>
        <p:spPr>
          <a:xfrm>
            <a:off x="365760" y="2286000"/>
            <a:ext cx="8412480" cy="822960"/>
          </a:xfrm>
          <a:prstGeom prst="roundRect">
            <a:avLst>
              <a:gd name="adj" fmla="val 8889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594360" y="2377440"/>
            <a:ext cx="7955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 Video Link (3 Minutes)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594360" y="2697480"/>
            <a:ext cx="7955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chemeClr val="accent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Add the video link here once it is uploaded</a:t>
            </a:r>
            <a:endParaRPr lang="en-US" sz="1300" dirty="0"/>
          </a:p>
        </p:txBody>
      </p:sp>
      <p:sp>
        <p:nvSpPr>
          <p:cNvPr id="9" name="link_card2"/>
          <p:cNvSpPr/>
          <p:nvPr/>
        </p:nvSpPr>
        <p:spPr>
          <a:xfrm>
            <a:off x="365760" y="3291840"/>
            <a:ext cx="8412480" cy="822960"/>
          </a:xfrm>
          <a:prstGeom prst="roundRect">
            <a:avLst>
              <a:gd name="adj" fmla="val 8889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594360" y="3383280"/>
            <a:ext cx="7955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Final Product Link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594360" y="3703320"/>
            <a:ext cx="7955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u="sng" dirty="0">
                <a:solidFill>
                  <a:schemeClr val="accent1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https://sentinal-ai.cloud.run/</a:t>
            </a:r>
            <a:endParaRPr lang="en-US" sz="13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AI Builder Cup - SENTINEL AI">
  <a:themeElements>
    <a:clrScheme name="AI Builder Cup - SENTINEL AI">
      <a:dk1>
        <a:srgbClr val="000000"/>
      </a:dk1>
      <a:lt1>
        <a:srgbClr val="FFFFFF"/>
      </a:lt1>
      <a:dk2>
        <a:srgbClr val="202124"/>
      </a:dk2>
      <a:lt2>
        <a:srgbClr val="F1F3F4"/>
      </a:lt2>
      <a:accent1>
        <a:srgbClr val="4285F4"/>
      </a:accent1>
      <a:accent2>
        <a:srgbClr val="34A853"/>
      </a:accent2>
      <a:accent3>
        <a:srgbClr val="FBBC04"/>
      </a:accent3>
      <a:accent4>
        <a:srgbClr val="EA4335"/>
      </a:accent4>
      <a:accent5>
        <a:srgbClr val="0E7C8F"/>
      </a:accent5>
      <a:accent6>
        <a:srgbClr val="5F6368"/>
      </a:accent6>
      <a:hlink>
        <a:srgbClr val="1A73E8"/>
      </a:hlink>
      <a:folHlink>
        <a:srgbClr val="5F6368"/>
      </a:folHlink>
    </a:clrScheme>
    <a:fontScheme name="AI Builder Cup - SENTINEL AI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1551</Words>
  <Application>Microsoft Office PowerPoint</Application>
  <PresentationFormat>On-screen Show (16:9)</PresentationFormat>
  <Paragraphs>219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7" baseType="lpstr">
      <vt:lpstr>Arial</vt:lpstr>
      <vt:lpstr>AI Builder Cup - SENTINEL AI</vt:lpstr>
      <vt:lpstr>PowerPoint Presentation</vt:lpstr>
      <vt:lpstr>Brief about the idea</vt:lpstr>
      <vt:lpstr>Opportunities</vt:lpstr>
      <vt:lpstr>List of features offered by the solution</vt:lpstr>
      <vt:lpstr>Process flow diagram</vt:lpstr>
      <vt:lpstr>Wireframes/Mock diagrams of the proposed solution</vt:lpstr>
      <vt:lpstr>Architecture diagram of the proposed solution</vt:lpstr>
      <vt:lpstr>Technologies to be used in the solution</vt:lpstr>
      <vt:lpstr>Estimated implementation cost (optional)</vt:lpstr>
      <vt:lpstr>Snapshots of the prototype (1 of 2)</vt:lpstr>
      <vt:lpstr>Snapshots of the prototype (2 of 2)</vt:lpstr>
      <vt:lpstr>Prototype Performance report/Benchmarking</vt:lpstr>
      <vt:lpstr>Additional Details/Future Development</vt:lpstr>
      <vt:lpstr>Provide links to your: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SENTINEL AI - AI Builder Cup Submission</dc:title>
  <dc:subject>PptxGenJS Presentation</dc:subject>
  <dc:creator>SENTINEL AI</dc:creator>
  <cp:lastModifiedBy>Mohammed Ilyas Basheer Ahamed</cp:lastModifiedBy>
  <cp:revision>4</cp:revision>
  <dcterms:created xsi:type="dcterms:W3CDTF">2026-10-18T18:53:39Z</dcterms:created>
  <dcterms:modified xsi:type="dcterms:W3CDTF">2026-10-19T06:56:18Z</dcterms:modified>
</cp:coreProperties>
</file>